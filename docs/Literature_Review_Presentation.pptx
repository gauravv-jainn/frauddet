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cope" id="{df2dfa6c-eefb-d681-0c11-b2f084701ab9}">
          <p14:sldIdLst>
            <p14:sldId id="256"/>
          </p14:sldIdLst>
        </p14:section>
        <p14:section name="Related work" id="{d058979c-acef-038d-4f4b-4e0abbd0d808}">
          <p14:sldIdLst>
            <p14:sldId id="257"/>
          </p14:sldIdLst>
        </p14:section>
        <p14:section name="Method" id="{d4ebaadf-5be8-e21a-d54b-6000bd435299}">
          <p14:sldIdLst>
            <p14:sldId id="258"/>
            <p14:sldId id="259"/>
          </p14:sldIdLst>
        </p14:section>
        <p14:section name="Contribution" id="{7d283430-fd25-cbd5-ea99-fc408a117050}">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literature behind our mini project: the base paper, earlier studies, imbalance techniques, evaluation practice and explainability. A 14-reference list is in the written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work already favoured ensembles. Dal Pozzolo's practitioner view adds three real-world issues: imbalance, drift, and the limited number of alerts humans can check. The ULB dataset comes from this line of work. Randhawa's details (datasets used) should be double-checked against the paper before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boxes are what the base paper used; orange boxes are what our project adds. He and Garcia (2009) group remedies into data-level, algorithm-level and model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base paper as described; red steps use label information before the split, which is leakage risk. Bottom row is our protocol. 'As described in the paper' is the safe phrase, we did not see their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the base paper has no real-rate test set, no probability-based metrics and no uncertainty. Our table shows the same model across settings. The ~124 rows for the paper is our estimate, not stated by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Credit Card Fraud Detection  |  VESIT Mumbai</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bg1"/>
                </a:solidFill>
              </a:rPr>
              <a:t>Literature Review: Credit Card Fraud Detection Using ML</a:t>
            </a:r>
            <a:endParaRPr lang="en-US" sz="3200" dirty="0"/>
          </a:p>
        </p:txBody>
      </p:sp>
      <p:sp>
        <p:nvSpPr>
          <p:cNvPr id="3" name="Subtitle"/>
          <p:cNvSpPr txBox="1"/>
          <p:nvPr/>
        </p:nvSpPr>
        <p:spPr>
          <a:xfrm>
            <a:off x="548640" y="1737360"/>
            <a:ext cx="4572000" cy="365760"/>
          </a:xfrm>
          <a:prstGeom prst="rect">
            <a:avLst/>
          </a:prstGeom>
          <a:noFill/>
          <a:ln/>
        </p:spPr>
        <p:txBody>
          <a:bodyPr wrap="square" lIns="0" tIns="0" rIns="0" bIns="0" rtlCol="0" anchor="t"/>
          <a:lstStyle/>
          <a:p>
            <a:pPr indent="0" marL="0">
              <a:buNone/>
            </a:pPr>
            <a:r>
              <a:rPr lang="en-US" sz="1600" dirty="0">
                <a:solidFill>
                  <a:schemeClr val="accent6"/>
                </a:solidFill>
              </a:rPr>
              <a:t>Base paper: Tanouz et al., ICICCS 2021</a:t>
            </a:r>
            <a:endParaRPr lang="en-US" sz="1600" dirty="0"/>
          </a:p>
        </p:txBody>
      </p:sp>
      <p:sp>
        <p:nvSpPr>
          <p:cNvPr id="4" name="Authors"/>
          <p:cNvSpPr txBox="1"/>
          <p:nvPr/>
        </p:nvSpPr>
        <p:spPr>
          <a:xfrm>
            <a:off x="548640" y="3749040"/>
            <a:ext cx="4937760" cy="274320"/>
          </a:xfrm>
          <a:prstGeom prst="rect">
            <a:avLst/>
          </a:prstGeom>
          <a:noFill/>
          <a:ln/>
        </p:spPr>
        <p:txBody>
          <a:bodyPr wrap="square" lIns="0" tIns="0" rIns="0" bIns="0" rtlCol="0" anchor="t"/>
          <a:lstStyle/>
          <a:p>
            <a:pPr indent="0" marL="0">
              <a:buNone/>
            </a:pPr>
            <a:r>
              <a:rPr lang="en-US" sz="1400" b="1" dirty="0">
                <a:solidFill>
                  <a:schemeClr val="bg1"/>
                </a:solidFill>
              </a:rPr>
              <a:t>Gaurav Jain (D12B, Roll 20)  |  Palash Matani (D12B, Roll 38)</a:t>
            </a:r>
            <a:endParaRPr lang="en-US" sz="1400" dirty="0"/>
          </a:p>
        </p:txBody>
      </p:sp>
      <p:sp>
        <p:nvSpPr>
          <p:cNvPr id="5" name="Department"/>
          <p:cNvSpPr txBox="1"/>
          <p:nvPr/>
        </p:nvSpPr>
        <p:spPr>
          <a:xfrm>
            <a:off x="548640" y="4069080"/>
            <a:ext cx="4937760" cy="274320"/>
          </a:xfrm>
          <a:prstGeom prst="rect">
            <a:avLst/>
          </a:prstGeom>
          <a:noFill/>
          <a:ln/>
        </p:spPr>
        <p:txBody>
          <a:bodyPr wrap="square" lIns="0" tIns="0" rIns="0" bIns="0" rtlCol="0" anchor="t"/>
          <a:lstStyle/>
          <a:p>
            <a:pPr indent="0" marL="0">
              <a:buNone/>
            </a:pPr>
            <a:r>
              <a:rPr lang="en-US" sz="1400" dirty="0">
                <a:solidFill>
                  <a:schemeClr val="accent6"/>
                </a:solidFill>
              </a:rPr>
              <a:t>Department of Computer Engineering, VESIT Mumbai</a:t>
            </a:r>
            <a:endParaRPr lang="en-US" sz="1400" dirty="0"/>
          </a:p>
        </p:txBody>
      </p:sp>
      <p:sp>
        <p:nvSpPr>
          <p:cNvPr id="6" name="Scope heading"/>
          <p:cNvSpPr txBox="1"/>
          <p:nvPr/>
        </p:nvSpPr>
        <p:spPr>
          <a:xfrm>
            <a:off x="5852160" y="868680"/>
            <a:ext cx="2834640" cy="365760"/>
          </a:xfrm>
          <a:prstGeom prst="rect">
            <a:avLst/>
          </a:prstGeom>
          <a:noFill/>
          <a:ln/>
        </p:spPr>
        <p:txBody>
          <a:bodyPr wrap="square" lIns="0" tIns="0" rIns="0" bIns="0" rtlCol="0" anchor="t"/>
          <a:lstStyle/>
          <a:p>
            <a:pPr indent="0" marL="0">
              <a:buNone/>
            </a:pPr>
            <a:r>
              <a:rPr lang="en-US" sz="1600" b="1" dirty="0">
                <a:solidFill>
                  <a:schemeClr val="accent1"/>
                </a:solidFill>
              </a:rPr>
              <a:t>What we review</a:t>
            </a:r>
            <a:endParaRPr lang="en-US" sz="1600" dirty="0"/>
          </a:p>
        </p:txBody>
      </p:sp>
      <p:sp>
        <p:nvSpPr>
          <p:cNvPr id="7" name="Scope 1 circle"/>
          <p:cNvSpPr/>
          <p:nvPr/>
        </p:nvSpPr>
        <p:spPr>
          <a:xfrm>
            <a:off x="5852160" y="1371600"/>
            <a:ext cx="420624" cy="420624"/>
          </a:xfrm>
          <a:prstGeom prst="ellipse">
            <a:avLst/>
          </a:prstGeom>
          <a:solidFill>
            <a:srgbClr val="1F7A8C"/>
          </a:solidFill>
          <a:ln w="12700">
            <a:solidFill>
              <a:srgbClr val="1F7A8C"/>
            </a:solidFill>
            <a:prstDash val="solid"/>
          </a:ln>
        </p:spPr>
      </p:sp>
      <p:sp>
        <p:nvSpPr>
          <p:cNvPr id="8" name="Scope 1 number"/>
          <p:cNvSpPr txBox="1"/>
          <p:nvPr/>
        </p:nvSpPr>
        <p:spPr>
          <a:xfrm>
            <a:off x="5852160" y="1371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Scope text 1"/>
          <p:cNvSpPr txBox="1"/>
          <p:nvPr/>
        </p:nvSpPr>
        <p:spPr>
          <a:xfrm>
            <a:off x="6446520" y="1435608"/>
            <a:ext cx="2286000" cy="320040"/>
          </a:xfrm>
          <a:prstGeom prst="rect">
            <a:avLst/>
          </a:prstGeom>
          <a:noFill/>
          <a:ln/>
        </p:spPr>
        <p:txBody>
          <a:bodyPr wrap="square" lIns="0" tIns="0" rIns="0" bIns="0" rtlCol="0" anchor="t"/>
          <a:lstStyle/>
          <a:p>
            <a:pPr indent="0" marL="0">
              <a:buNone/>
            </a:pPr>
            <a:r>
              <a:rPr lang="en-US" sz="1500" dirty="0">
                <a:solidFill>
                  <a:schemeClr val="bg1"/>
                </a:solidFill>
              </a:rPr>
              <a:t>The base paper</a:t>
            </a:r>
            <a:endParaRPr lang="en-US" sz="1500" dirty="0"/>
          </a:p>
        </p:txBody>
      </p:sp>
      <p:sp>
        <p:nvSpPr>
          <p:cNvPr id="10" name="Scope 2 circle"/>
          <p:cNvSpPr/>
          <p:nvPr/>
        </p:nvSpPr>
        <p:spPr>
          <a:xfrm>
            <a:off x="5852160" y="1993392"/>
            <a:ext cx="420624" cy="420624"/>
          </a:xfrm>
          <a:prstGeom prst="ellipse">
            <a:avLst/>
          </a:prstGeom>
          <a:solidFill>
            <a:srgbClr val="1F7A8C"/>
          </a:solidFill>
          <a:ln w="12700">
            <a:solidFill>
              <a:srgbClr val="1F7A8C"/>
            </a:solidFill>
            <a:prstDash val="solid"/>
          </a:ln>
        </p:spPr>
      </p:sp>
      <p:sp>
        <p:nvSpPr>
          <p:cNvPr id="11" name="Scope 2 number"/>
          <p:cNvSpPr txBox="1"/>
          <p:nvPr/>
        </p:nvSpPr>
        <p:spPr>
          <a:xfrm>
            <a:off x="5852160" y="19933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Scope text 2"/>
          <p:cNvSpPr txBox="1"/>
          <p:nvPr/>
        </p:nvSpPr>
        <p:spPr>
          <a:xfrm>
            <a:off x="6446520" y="2057400"/>
            <a:ext cx="2286000" cy="320040"/>
          </a:xfrm>
          <a:prstGeom prst="rect">
            <a:avLst/>
          </a:prstGeom>
          <a:noFill/>
          <a:ln/>
        </p:spPr>
        <p:txBody>
          <a:bodyPr wrap="square" lIns="0" tIns="0" rIns="0" bIns="0" rtlCol="0" anchor="t"/>
          <a:lstStyle/>
          <a:p>
            <a:pPr indent="0" marL="0">
              <a:buNone/>
            </a:pPr>
            <a:r>
              <a:rPr lang="en-US" sz="1500" dirty="0">
                <a:solidFill>
                  <a:schemeClr val="bg1"/>
                </a:solidFill>
              </a:rPr>
              <a:t>Related work</a:t>
            </a:r>
            <a:endParaRPr lang="en-US" sz="1500" dirty="0"/>
          </a:p>
        </p:txBody>
      </p:sp>
      <p:sp>
        <p:nvSpPr>
          <p:cNvPr id="13" name="Scope 3 circle"/>
          <p:cNvSpPr/>
          <p:nvPr/>
        </p:nvSpPr>
        <p:spPr>
          <a:xfrm>
            <a:off x="5852160" y="2615184"/>
            <a:ext cx="420624" cy="420624"/>
          </a:xfrm>
          <a:prstGeom prst="ellipse">
            <a:avLst/>
          </a:prstGeom>
          <a:solidFill>
            <a:srgbClr val="1F7A8C"/>
          </a:solidFill>
          <a:ln w="12700">
            <a:solidFill>
              <a:srgbClr val="1F7A8C"/>
            </a:solidFill>
            <a:prstDash val="solid"/>
          </a:ln>
        </p:spPr>
      </p:sp>
      <p:sp>
        <p:nvSpPr>
          <p:cNvPr id="14" name="Scope 3 number"/>
          <p:cNvSpPr txBox="1"/>
          <p:nvPr/>
        </p:nvSpPr>
        <p:spPr>
          <a:xfrm>
            <a:off x="5852160" y="26151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cope text 3"/>
          <p:cNvSpPr txBox="1"/>
          <p:nvPr/>
        </p:nvSpPr>
        <p:spPr>
          <a:xfrm>
            <a:off x="6446520" y="2679192"/>
            <a:ext cx="2286000" cy="320040"/>
          </a:xfrm>
          <a:prstGeom prst="rect">
            <a:avLst/>
          </a:prstGeom>
          <a:noFill/>
          <a:ln/>
        </p:spPr>
        <p:txBody>
          <a:bodyPr wrap="square" lIns="0" tIns="0" rIns="0" bIns="0" rtlCol="0" anchor="t"/>
          <a:lstStyle/>
          <a:p>
            <a:pPr indent="0" marL="0">
              <a:buNone/>
            </a:pPr>
            <a:r>
              <a:rPr lang="en-US" sz="1500" dirty="0">
                <a:solidFill>
                  <a:schemeClr val="bg1"/>
                </a:solidFill>
              </a:rPr>
              <a:t>Class imbalance</a:t>
            </a:r>
            <a:endParaRPr lang="en-US" sz="1500" dirty="0"/>
          </a:p>
        </p:txBody>
      </p:sp>
      <p:sp>
        <p:nvSpPr>
          <p:cNvPr id="16" name="Scope 4 circle"/>
          <p:cNvSpPr/>
          <p:nvPr/>
        </p:nvSpPr>
        <p:spPr>
          <a:xfrm>
            <a:off x="5852160" y="3236976"/>
            <a:ext cx="420624" cy="420624"/>
          </a:xfrm>
          <a:prstGeom prst="ellipse">
            <a:avLst/>
          </a:prstGeom>
          <a:solidFill>
            <a:srgbClr val="1F7A8C"/>
          </a:solidFill>
          <a:ln w="12700">
            <a:solidFill>
              <a:srgbClr val="1F7A8C"/>
            </a:solidFill>
            <a:prstDash val="solid"/>
          </a:ln>
        </p:spPr>
      </p:sp>
      <p:sp>
        <p:nvSpPr>
          <p:cNvPr id="17" name="Scope 4 number"/>
          <p:cNvSpPr txBox="1"/>
          <p:nvPr/>
        </p:nvSpPr>
        <p:spPr>
          <a:xfrm>
            <a:off x="5852160" y="32369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Scope text 4"/>
          <p:cNvSpPr txBox="1"/>
          <p:nvPr/>
        </p:nvSpPr>
        <p:spPr>
          <a:xfrm>
            <a:off x="6446520" y="3300984"/>
            <a:ext cx="2286000" cy="320040"/>
          </a:xfrm>
          <a:prstGeom prst="rect">
            <a:avLst/>
          </a:prstGeom>
          <a:noFill/>
          <a:ln/>
        </p:spPr>
        <p:txBody>
          <a:bodyPr wrap="square" lIns="0" tIns="0" rIns="0" bIns="0" rtlCol="0" anchor="t"/>
          <a:lstStyle/>
          <a:p>
            <a:pPr indent="0" marL="0">
              <a:buNone/>
            </a:pPr>
            <a:r>
              <a:rPr lang="en-US" sz="1500" dirty="0">
                <a:solidFill>
                  <a:schemeClr val="bg1"/>
                </a:solidFill>
              </a:rPr>
              <a:t>Evaluation practice</a:t>
            </a:r>
            <a:endParaRPr lang="en-US" sz="1500" dirty="0"/>
          </a:p>
        </p:txBody>
      </p:sp>
      <p:sp>
        <p:nvSpPr>
          <p:cNvPr id="19" name="Scope 5 circle"/>
          <p:cNvSpPr/>
          <p:nvPr/>
        </p:nvSpPr>
        <p:spPr>
          <a:xfrm>
            <a:off x="5852160" y="3858768"/>
            <a:ext cx="420624" cy="420624"/>
          </a:xfrm>
          <a:prstGeom prst="ellipse">
            <a:avLst/>
          </a:prstGeom>
          <a:solidFill>
            <a:srgbClr val="1F7A8C"/>
          </a:solidFill>
          <a:ln w="12700">
            <a:solidFill>
              <a:srgbClr val="1F7A8C"/>
            </a:solidFill>
            <a:prstDash val="solid"/>
          </a:ln>
        </p:spPr>
      </p:sp>
      <p:sp>
        <p:nvSpPr>
          <p:cNvPr id="20" name="Scope 5 number"/>
          <p:cNvSpPr txBox="1"/>
          <p:nvPr/>
        </p:nvSpPr>
        <p:spPr>
          <a:xfrm>
            <a:off x="5852160" y="3858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Scope text 5"/>
          <p:cNvSpPr txBox="1"/>
          <p:nvPr/>
        </p:nvSpPr>
        <p:spPr>
          <a:xfrm>
            <a:off x="6446520" y="3922776"/>
            <a:ext cx="2286000" cy="320040"/>
          </a:xfrm>
          <a:prstGeom prst="rect">
            <a:avLst/>
          </a:prstGeom>
          <a:noFill/>
          <a:ln/>
        </p:spPr>
        <p:txBody>
          <a:bodyPr wrap="square" lIns="0" tIns="0" rIns="0" bIns="0" rtlCol="0" anchor="t"/>
          <a:lstStyle/>
          <a:p>
            <a:pPr indent="0" marL="0">
              <a:buNone/>
            </a:pPr>
            <a:r>
              <a:rPr lang="en-US" sz="1500" dirty="0">
                <a:solidFill>
                  <a:schemeClr val="bg1"/>
                </a:solidFill>
              </a:rPr>
              <a:t>Explaining alerts (LIME)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Related work: trees win, evaluation lags</a:t>
            </a:r>
            <a:endParaRPr lang="en-US" sz="3200" dirty="0"/>
          </a:p>
        </p:txBody>
      </p:sp>
      <p:sp>
        <p:nvSpPr>
          <p:cNvPr id="3" name="Timeline line"/>
          <p:cNvSpPr/>
          <p:nvPr/>
        </p:nvSpPr>
        <p:spPr>
          <a:xfrm>
            <a:off x="640080" y="2240280"/>
            <a:ext cx="7863840" cy="0"/>
          </a:xfrm>
          <a:prstGeom prst="line">
            <a:avLst/>
          </a:prstGeom>
          <a:noFill/>
          <a:ln w="25400">
            <a:solidFill>
              <a:schemeClr val="accent6"/>
            </a:solidFill>
            <a:prstDash val="solid"/>
          </a:ln>
        </p:spPr>
      </p:sp>
      <p:sp>
        <p:nvSpPr>
          <p:cNvPr id="4" name="Year 2011"/>
          <p:cNvSpPr txBox="1"/>
          <p:nvPr/>
        </p:nvSpPr>
        <p:spPr>
          <a:xfrm>
            <a:off x="502920" y="1463040"/>
            <a:ext cx="1554480" cy="45720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2011</a:t>
            </a:r>
            <a:endParaRPr lang="en-US" sz="2200" dirty="0"/>
          </a:p>
        </p:txBody>
      </p:sp>
      <p:sp>
        <p:nvSpPr>
          <p:cNvPr id="5" name="Node 2011"/>
          <p:cNvSpPr/>
          <p:nvPr/>
        </p:nvSpPr>
        <p:spPr>
          <a:xfrm>
            <a:off x="1152144" y="2112264"/>
            <a:ext cx="256032" cy="256032"/>
          </a:xfrm>
          <a:prstGeom prst="ellipse">
            <a:avLst/>
          </a:prstGeom>
          <a:solidFill>
            <a:schemeClr val="accent2"/>
          </a:solidFill>
          <a:ln w="25400">
            <a:solidFill>
              <a:schemeClr val="bg1"/>
            </a:solidFill>
            <a:prstDash val="solid"/>
          </a:ln>
        </p:spPr>
      </p:sp>
      <p:sp>
        <p:nvSpPr>
          <p:cNvPr id="6" name="Timeline text 2011"/>
          <p:cNvSpPr txBox="1"/>
          <p:nvPr/>
        </p:nvSpPr>
        <p:spPr>
          <a:xfrm>
            <a:off x="502920" y="2560320"/>
            <a:ext cx="1554480" cy="1280160"/>
          </a:xfrm>
          <a:prstGeom prst="rect">
            <a:avLst/>
          </a:prstGeom>
          <a:noFill/>
          <a:ln/>
        </p:spPr>
        <p:txBody>
          <a:bodyPr wrap="square" lIns="0" tIns="0" rIns="0" bIns="0" rtlCol="0" anchor="t"/>
          <a:lstStyle/>
          <a:p>
            <a:pPr algn="ctr" indent="0" marL="0">
              <a:buNone/>
            </a:pPr>
            <a:r>
              <a:rPr lang="en-US" sz="1400" b="1" dirty="0">
                <a:solidFill>
                  <a:schemeClr val="tx1"/>
                </a:solidFill>
              </a:rPr>
              <a:t>Bhattacharyya [5]</a:t>
            </a:r>
            <a:endParaRPr lang="en-US" sz="1400" dirty="0"/>
          </a:p>
          <a:p>
            <a:pPr algn="ctr" indent="0" marL="0">
              <a:buNone/>
            </a:pPr>
            <a:r>
              <a:rPr lang="en-US" sz="1400" dirty="0">
                <a:solidFill>
                  <a:schemeClr val="tx1"/>
                </a:solidFill>
              </a:rPr>
              <a:t>Random Forest beats SVM and LR</a:t>
            </a:r>
            <a:endParaRPr lang="en-US" sz="1400" dirty="0"/>
          </a:p>
        </p:txBody>
      </p:sp>
      <p:sp>
        <p:nvSpPr>
          <p:cNvPr id="7" name="Year 2014"/>
          <p:cNvSpPr txBox="1"/>
          <p:nvPr/>
        </p:nvSpPr>
        <p:spPr>
          <a:xfrm>
            <a:off x="2148840" y="1463040"/>
            <a:ext cx="1554480" cy="45720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2014</a:t>
            </a:r>
            <a:endParaRPr lang="en-US" sz="2200" dirty="0"/>
          </a:p>
        </p:txBody>
      </p:sp>
      <p:sp>
        <p:nvSpPr>
          <p:cNvPr id="8" name="Node 2014"/>
          <p:cNvSpPr/>
          <p:nvPr/>
        </p:nvSpPr>
        <p:spPr>
          <a:xfrm>
            <a:off x="2798064" y="2112264"/>
            <a:ext cx="256032" cy="256032"/>
          </a:xfrm>
          <a:prstGeom prst="ellipse">
            <a:avLst/>
          </a:prstGeom>
          <a:solidFill>
            <a:schemeClr val="accent2"/>
          </a:solidFill>
          <a:ln w="25400">
            <a:solidFill>
              <a:schemeClr val="bg1"/>
            </a:solidFill>
            <a:prstDash val="solid"/>
          </a:ln>
        </p:spPr>
      </p:sp>
      <p:sp>
        <p:nvSpPr>
          <p:cNvPr id="9" name="Timeline text 2014"/>
          <p:cNvSpPr txBox="1"/>
          <p:nvPr/>
        </p:nvSpPr>
        <p:spPr>
          <a:xfrm>
            <a:off x="2148840" y="2560320"/>
            <a:ext cx="1554480" cy="1280160"/>
          </a:xfrm>
          <a:prstGeom prst="rect">
            <a:avLst/>
          </a:prstGeom>
          <a:noFill/>
          <a:ln/>
        </p:spPr>
        <p:txBody>
          <a:bodyPr wrap="square" lIns="0" tIns="0" rIns="0" bIns="0" rtlCol="0" anchor="t"/>
          <a:lstStyle/>
          <a:p>
            <a:pPr algn="ctr" indent="0" marL="0">
              <a:buNone/>
            </a:pPr>
            <a:r>
              <a:rPr lang="en-US" sz="1400" b="1" dirty="0">
                <a:solidFill>
                  <a:schemeClr val="tx1"/>
                </a:solidFill>
              </a:rPr>
              <a:t>Dal Pozzolo [3]</a:t>
            </a:r>
            <a:endParaRPr lang="en-US" sz="1400" dirty="0"/>
          </a:p>
          <a:p>
            <a:pPr algn="ctr" indent="0" marL="0">
              <a:buNone/>
            </a:pPr>
            <a:r>
              <a:rPr lang="en-US" sz="1400" dirty="0">
                <a:solidFill>
                  <a:schemeClr val="tx1"/>
                </a:solidFill>
              </a:rPr>
              <a:t>Drift and alert budget matter</a:t>
            </a:r>
            <a:endParaRPr lang="en-US" sz="1400" dirty="0"/>
          </a:p>
        </p:txBody>
      </p:sp>
      <p:sp>
        <p:nvSpPr>
          <p:cNvPr id="10" name="Year 2015"/>
          <p:cNvSpPr txBox="1"/>
          <p:nvPr/>
        </p:nvSpPr>
        <p:spPr>
          <a:xfrm>
            <a:off x="3794760" y="1463040"/>
            <a:ext cx="1554480" cy="45720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2015</a:t>
            </a:r>
            <a:endParaRPr lang="en-US" sz="2200" dirty="0"/>
          </a:p>
        </p:txBody>
      </p:sp>
      <p:sp>
        <p:nvSpPr>
          <p:cNvPr id="11" name="Node 2015"/>
          <p:cNvSpPr/>
          <p:nvPr/>
        </p:nvSpPr>
        <p:spPr>
          <a:xfrm>
            <a:off x="4443984" y="2112264"/>
            <a:ext cx="256032" cy="256032"/>
          </a:xfrm>
          <a:prstGeom prst="ellipse">
            <a:avLst/>
          </a:prstGeom>
          <a:solidFill>
            <a:schemeClr val="accent2"/>
          </a:solidFill>
          <a:ln w="25400">
            <a:solidFill>
              <a:schemeClr val="bg1"/>
            </a:solidFill>
            <a:prstDash val="solid"/>
          </a:ln>
        </p:spPr>
      </p:sp>
      <p:sp>
        <p:nvSpPr>
          <p:cNvPr id="12" name="Timeline text 2015"/>
          <p:cNvSpPr txBox="1"/>
          <p:nvPr/>
        </p:nvSpPr>
        <p:spPr>
          <a:xfrm>
            <a:off x="3794760" y="2560320"/>
            <a:ext cx="1554480" cy="1280160"/>
          </a:xfrm>
          <a:prstGeom prst="rect">
            <a:avLst/>
          </a:prstGeom>
          <a:noFill/>
          <a:ln/>
        </p:spPr>
        <p:txBody>
          <a:bodyPr wrap="square" lIns="0" tIns="0" rIns="0" bIns="0" rtlCol="0" anchor="t"/>
          <a:lstStyle/>
          <a:p>
            <a:pPr algn="ctr" indent="0" marL="0">
              <a:buNone/>
            </a:pPr>
            <a:r>
              <a:rPr lang="en-US" sz="1400" b="1" dirty="0">
                <a:solidFill>
                  <a:schemeClr val="tx1"/>
                </a:solidFill>
              </a:rPr>
              <a:t>Dal Pozzolo [1]</a:t>
            </a:r>
            <a:endParaRPr lang="en-US" sz="1400" dirty="0"/>
          </a:p>
          <a:p>
            <a:pPr algn="ctr" indent="0" marL="0">
              <a:buNone/>
            </a:pPr>
            <a:r>
              <a:rPr lang="en-US" sz="1400" dirty="0">
                <a:solidFill>
                  <a:schemeClr val="tx1"/>
                </a:solidFill>
              </a:rPr>
              <a:t>Under-sampling skews probabilities</a:t>
            </a:r>
            <a:endParaRPr lang="en-US" sz="1400" dirty="0"/>
          </a:p>
        </p:txBody>
      </p:sp>
      <p:sp>
        <p:nvSpPr>
          <p:cNvPr id="13" name="Year 2018"/>
          <p:cNvSpPr txBox="1"/>
          <p:nvPr/>
        </p:nvSpPr>
        <p:spPr>
          <a:xfrm>
            <a:off x="5440680" y="1463040"/>
            <a:ext cx="1554480" cy="45720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2018</a:t>
            </a:r>
            <a:endParaRPr lang="en-US" sz="2200" dirty="0"/>
          </a:p>
        </p:txBody>
      </p:sp>
      <p:sp>
        <p:nvSpPr>
          <p:cNvPr id="14" name="Node 2018"/>
          <p:cNvSpPr/>
          <p:nvPr/>
        </p:nvSpPr>
        <p:spPr>
          <a:xfrm>
            <a:off x="6089904" y="2112264"/>
            <a:ext cx="256032" cy="256032"/>
          </a:xfrm>
          <a:prstGeom prst="ellipse">
            <a:avLst/>
          </a:prstGeom>
          <a:solidFill>
            <a:schemeClr val="accent2"/>
          </a:solidFill>
          <a:ln w="25400">
            <a:solidFill>
              <a:schemeClr val="bg1"/>
            </a:solidFill>
            <a:prstDash val="solid"/>
          </a:ln>
        </p:spPr>
      </p:sp>
      <p:sp>
        <p:nvSpPr>
          <p:cNvPr id="15" name="Timeline text 2018"/>
          <p:cNvSpPr txBox="1"/>
          <p:nvPr/>
        </p:nvSpPr>
        <p:spPr>
          <a:xfrm>
            <a:off x="5440680" y="2560320"/>
            <a:ext cx="1554480" cy="1280160"/>
          </a:xfrm>
          <a:prstGeom prst="rect">
            <a:avLst/>
          </a:prstGeom>
          <a:noFill/>
          <a:ln/>
        </p:spPr>
        <p:txBody>
          <a:bodyPr wrap="square" lIns="0" tIns="0" rIns="0" bIns="0" rtlCol="0" anchor="t"/>
          <a:lstStyle/>
          <a:p>
            <a:pPr algn="ctr" indent="0" marL="0">
              <a:buNone/>
            </a:pPr>
            <a:r>
              <a:rPr lang="en-US" sz="1400" b="1" dirty="0">
                <a:solidFill>
                  <a:schemeClr val="tx1"/>
                </a:solidFill>
              </a:rPr>
              <a:t>Randhawa [6]</a:t>
            </a:r>
            <a:endParaRPr lang="en-US" sz="1400" dirty="0"/>
          </a:p>
          <a:p>
            <a:pPr algn="ctr" indent="0" marL="0">
              <a:buNone/>
            </a:pPr>
            <a:r>
              <a:rPr lang="en-US" sz="1400" dirty="0">
                <a:solidFill>
                  <a:schemeClr val="tx1"/>
                </a:solidFill>
              </a:rPr>
              <a:t>Hybrid ensembles beat single models</a:t>
            </a:r>
            <a:endParaRPr lang="en-US" sz="1400" dirty="0"/>
          </a:p>
        </p:txBody>
      </p:sp>
      <p:sp>
        <p:nvSpPr>
          <p:cNvPr id="16" name="Year 2021"/>
          <p:cNvSpPr txBox="1"/>
          <p:nvPr/>
        </p:nvSpPr>
        <p:spPr>
          <a:xfrm>
            <a:off x="7086600" y="1463040"/>
            <a:ext cx="1554480" cy="457200"/>
          </a:xfrm>
          <a:prstGeom prst="rect">
            <a:avLst/>
          </a:prstGeom>
          <a:noFill/>
          <a:ln/>
        </p:spPr>
        <p:txBody>
          <a:bodyPr wrap="square" lIns="0" tIns="0" rIns="0" bIns="0" rtlCol="0" anchor="t"/>
          <a:lstStyle/>
          <a:p>
            <a:pPr algn="ctr" indent="0" marL="0">
              <a:buNone/>
            </a:pPr>
            <a:r>
              <a:rPr lang="en-US" sz="2200" b="1" dirty="0">
                <a:solidFill>
                  <a:schemeClr val="accent1"/>
                </a:solidFill>
                <a:latin typeface="Cambria" pitchFamily="34" charset="0"/>
                <a:ea typeface="Cambria" pitchFamily="34" charset="-122"/>
                <a:cs typeface="Cambria" pitchFamily="34" charset="-120"/>
              </a:rPr>
              <a:t>2021</a:t>
            </a:r>
            <a:endParaRPr lang="en-US" sz="2200" dirty="0"/>
          </a:p>
        </p:txBody>
      </p:sp>
      <p:sp>
        <p:nvSpPr>
          <p:cNvPr id="17" name="Node 2021"/>
          <p:cNvSpPr/>
          <p:nvPr/>
        </p:nvSpPr>
        <p:spPr>
          <a:xfrm>
            <a:off x="7735824" y="2112264"/>
            <a:ext cx="256032" cy="256032"/>
          </a:xfrm>
          <a:prstGeom prst="ellipse">
            <a:avLst/>
          </a:prstGeom>
          <a:solidFill>
            <a:schemeClr val="accent1"/>
          </a:solidFill>
          <a:ln w="25400">
            <a:solidFill>
              <a:schemeClr val="bg1"/>
            </a:solidFill>
            <a:prstDash val="solid"/>
          </a:ln>
        </p:spPr>
      </p:sp>
      <p:sp>
        <p:nvSpPr>
          <p:cNvPr id="18" name="Timeline text 2021"/>
          <p:cNvSpPr txBox="1"/>
          <p:nvPr/>
        </p:nvSpPr>
        <p:spPr>
          <a:xfrm>
            <a:off x="7086600" y="2560320"/>
            <a:ext cx="1554480" cy="1280160"/>
          </a:xfrm>
          <a:prstGeom prst="rect">
            <a:avLst/>
          </a:prstGeom>
          <a:noFill/>
          <a:ln/>
        </p:spPr>
        <p:txBody>
          <a:bodyPr wrap="square" lIns="0" tIns="0" rIns="0" bIns="0" rtlCol="0" anchor="t"/>
          <a:lstStyle/>
          <a:p>
            <a:pPr algn="ctr" indent="0" marL="0">
              <a:buNone/>
            </a:pPr>
            <a:r>
              <a:rPr lang="en-US" sz="1400" b="1" dirty="0">
                <a:solidFill>
                  <a:schemeClr val="tx1"/>
                </a:solidFill>
              </a:rPr>
              <a:t>Tanouz [4]</a:t>
            </a:r>
            <a:endParaRPr lang="en-US" sz="1400" dirty="0"/>
          </a:p>
          <a:p>
            <a:pPr algn="ctr" indent="0" marL="0">
              <a:buNone/>
            </a:pPr>
            <a:r>
              <a:rPr lang="en-US" sz="1400" dirty="0">
                <a:solidFill>
                  <a:schemeClr val="tx1"/>
                </a:solidFill>
              </a:rPr>
              <a:t>RF best, but tiny balanced test set</a:t>
            </a:r>
            <a:endParaRPr lang="en-US" sz="1400" dirty="0"/>
          </a:p>
        </p:txBody>
      </p:sp>
      <p:sp>
        <p:nvSpPr>
          <p:cNvPr id="19" name="Takeaway"/>
          <p:cNvSpPr txBox="1"/>
          <p:nvPr/>
        </p:nvSpPr>
        <p:spPr>
          <a:xfrm>
            <a:off x="457200" y="4023360"/>
            <a:ext cx="8229600" cy="457200"/>
          </a:xfrm>
          <a:prstGeom prst="rect">
            <a:avLst/>
          </a:prstGeom>
          <a:noFill/>
          <a:ln/>
        </p:spPr>
        <p:txBody>
          <a:bodyPr wrap="square" lIns="0" tIns="0" rIns="0" bIns="0" rtlCol="0" anchor="t"/>
          <a:lstStyle/>
          <a:p>
            <a:pPr algn="ctr" indent="0" marL="0">
              <a:buNone/>
            </a:pPr>
            <a:r>
              <a:rPr lang="en-US" sz="1800" b="1" dirty="0">
                <a:solidFill>
                  <a:schemeClr val="tx1"/>
                </a:solidFill>
              </a:rPr>
              <a:t>Common pattern: tree ensembles are strong baselines on this data</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Handling class imbalance</a:t>
            </a:r>
            <a:endParaRPr lang="en-US" sz="3200" dirty="0"/>
          </a:p>
        </p:txBody>
      </p:sp>
      <p:pic>
        <p:nvPicPr>
          <p:cNvPr id="3" name="Taxonomy figure" descr="Taxonomy of class imbalance remedies: data level, algorithm level and model level">    </p:cNvPr>
          <p:cNvPicPr>
            <a:picLocks noChangeAspect="1"/>
          </p:cNvPicPr>
          <p:nvPr/>
        </p:nvPicPr>
        <p:blipFill>
          <a:blip r:embed="rId1"/>
          <a:stretch>
            <a:fillRect/>
          </a:stretch>
        </p:blipFill>
        <p:spPr>
          <a:xfrm>
            <a:off x="365760" y="1371600"/>
            <a:ext cx="5486400" cy="2602382"/>
          </a:xfrm>
          <a:prstGeom prst="rect">
            <a:avLst/>
          </a:prstGeom>
        </p:spPr>
      </p:pic>
      <p:sp>
        <p:nvSpPr>
          <p:cNvPr id="4" name="Remedy list"/>
          <p:cNvSpPr txBox="1"/>
          <p:nvPr/>
        </p:nvSpPr>
        <p:spPr>
          <a:xfrm>
            <a:off x="6080760" y="1371600"/>
            <a:ext cx="2606040" cy="3108960"/>
          </a:xfrm>
          <a:prstGeom prst="rect">
            <a:avLst/>
          </a:prstGeom>
          <a:noFill/>
          <a:ln/>
        </p:spPr>
        <p:txBody>
          <a:bodyPr wrap="square" lIns="0" tIns="0" rIns="0" bIns="0" rtlCol="0" anchor="t"/>
          <a:lstStyle/>
          <a:p>
            <a:pPr indent="0" marL="0">
              <a:buNone/>
            </a:pPr>
            <a:r>
              <a:rPr lang="en-US" sz="1400" b="1" dirty="0">
                <a:solidFill>
                  <a:schemeClr val="tx1"/>
                </a:solidFill>
              </a:rPr>
              <a:t>Under-sampling: </a:t>
            </a:r>
            <a:pPr indent="0" marL="0">
              <a:spcAft>
                <a:spcPts val="800"/>
              </a:spcAft>
              <a:buNone/>
            </a:pPr>
            <a:r>
              <a:rPr lang="en-US" sz="1400" dirty="0">
                <a:solidFill>
                  <a:schemeClr val="tx1"/>
                </a:solidFill>
              </a:rPr>
              <a:t>fast, but drops over 99% of genuine rows [1]</a:t>
            </a:r>
            <a:endParaRPr lang="en-US" sz="1400" dirty="0"/>
          </a:p>
          <a:p>
            <a:pPr indent="0" marL="0">
              <a:buNone/>
            </a:pPr>
            <a:r>
              <a:rPr lang="en-US" sz="1400" b="1" dirty="0">
                <a:solidFill>
                  <a:schemeClr val="tx1"/>
                </a:solidFill>
              </a:rPr>
              <a:t>SMOTE: </a:t>
            </a:r>
            <a:pPr indent="0" marL="0">
              <a:spcAft>
                <a:spcPts val="800"/>
              </a:spcAft>
              <a:buNone/>
            </a:pPr>
            <a:r>
              <a:rPr lang="en-US" sz="1400" dirty="0">
                <a:solidFill>
                  <a:schemeClr val="tx1"/>
                </a:solidFill>
              </a:rPr>
              <a:t>synthetic fraud points; gains vary by model [7, 14]</a:t>
            </a:r>
            <a:endParaRPr lang="en-US" sz="1400" dirty="0"/>
          </a:p>
          <a:p>
            <a:pPr indent="0" marL="0">
              <a:buNone/>
            </a:pPr>
            <a:r>
              <a:rPr lang="en-US" sz="1400" b="1" dirty="0">
                <a:solidFill>
                  <a:schemeClr val="tx1"/>
                </a:solidFill>
              </a:rPr>
              <a:t>Class weights: </a:t>
            </a:r>
            <a:pPr indent="0" marL="0">
              <a:spcAft>
                <a:spcPts val="800"/>
              </a:spcAft>
              <a:buNone/>
            </a:pPr>
            <a:r>
              <a:rPr lang="en-US" sz="1400" dirty="0">
                <a:solidFill>
                  <a:schemeClr val="tx1"/>
                </a:solidFill>
              </a:rPr>
              <a:t>reweight errors, keep all data</a:t>
            </a:r>
            <a:endParaRPr lang="en-US" sz="1400" dirty="0"/>
          </a:p>
          <a:p>
            <a:pPr indent="0" marL="0">
              <a:buNone/>
            </a:pPr>
            <a:r>
              <a:rPr lang="en-US" sz="1400" b="1" dirty="0">
                <a:solidFill>
                  <a:schemeClr val="tx1"/>
                </a:solidFill>
              </a:rPr>
              <a:t>XGBoost: </a:t>
            </a:r>
            <a:pPr indent="0" marL="0">
              <a:spcAft>
                <a:spcPts val="800"/>
              </a:spcAft>
              <a:buNone/>
            </a:pPr>
            <a:r>
              <a:rPr lang="en-US" sz="1400" dirty="0">
                <a:solidFill>
                  <a:schemeClr val="tx1"/>
                </a:solidFill>
              </a:rPr>
              <a:t>boosted trees [8], not in the base paper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Evaluating rare events properly</a:t>
            </a:r>
            <a:endParaRPr lang="en-US" sz="3200" dirty="0"/>
          </a:p>
        </p:txBody>
      </p:sp>
      <p:pic>
        <p:nvPicPr>
          <p:cNvPr id="3" name="Pipeline comparison figure" descr="Base paper pipeline compared with our evaluation protocol">    </p:cNvPr>
          <p:cNvPicPr>
            <a:picLocks noChangeAspect="1"/>
          </p:cNvPicPr>
          <p:nvPr/>
        </p:nvPicPr>
        <p:blipFill>
          <a:blip r:embed="rId1"/>
          <a:stretch>
            <a:fillRect/>
          </a:stretch>
        </p:blipFill>
        <p:spPr>
          <a:xfrm>
            <a:off x="365760" y="1280160"/>
            <a:ext cx="6217920" cy="3091586"/>
          </a:xfrm>
          <a:prstGeom prst="rect">
            <a:avLst/>
          </a:prstGeom>
        </p:spPr>
      </p:pic>
      <p:sp>
        <p:nvSpPr>
          <p:cNvPr id="4" name="Evaluation list"/>
          <p:cNvSpPr txBox="1"/>
          <p:nvPr/>
        </p:nvSpPr>
        <p:spPr>
          <a:xfrm>
            <a:off x="6812280" y="1280160"/>
            <a:ext cx="1874520" cy="3200400"/>
          </a:xfrm>
          <a:prstGeom prst="rect">
            <a:avLst/>
          </a:prstGeom>
          <a:noFill/>
          <a:ln/>
        </p:spPr>
        <p:txBody>
          <a:bodyPr wrap="square" lIns="0" tIns="0" rIns="0" bIns="0" rtlCol="0" anchor="t"/>
          <a:lstStyle/>
          <a:p>
            <a:pPr indent="0" marL="0">
              <a:buNone/>
            </a:pPr>
            <a:r>
              <a:rPr lang="en-US" sz="1400" b="1" dirty="0">
                <a:solidFill>
                  <a:schemeClr val="tx1"/>
                </a:solidFill>
              </a:rPr>
              <a:t>PR over ROC [9, 10]: </a:t>
            </a:r>
            <a:pPr indent="0" marL="0">
              <a:spcAft>
                <a:spcPts val="1000"/>
              </a:spcAft>
              <a:buNone/>
            </a:pPr>
            <a:r>
              <a:rPr lang="en-US" sz="1400" dirty="0">
                <a:solidFill>
                  <a:schemeClr val="tx1"/>
                </a:solidFill>
              </a:rPr>
              <a:t>ROC hides weak precision</a:t>
            </a:r>
            <a:endParaRPr lang="en-US" sz="1400" dirty="0"/>
          </a:p>
          <a:p>
            <a:pPr indent="0" marL="0">
              <a:buNone/>
            </a:pPr>
            <a:r>
              <a:rPr lang="en-US" sz="1400" b="1" dirty="0">
                <a:solidFill>
                  <a:schemeClr val="tx1"/>
                </a:solidFill>
              </a:rPr>
              <a:t>Split first [11]: </a:t>
            </a:r>
            <a:pPr indent="0" marL="0">
              <a:spcAft>
                <a:spcPts val="1000"/>
              </a:spcAft>
              <a:buNone/>
            </a:pPr>
            <a:r>
              <a:rPr lang="en-US" sz="1400" dirty="0">
                <a:solidFill>
                  <a:schemeClr val="tx1"/>
                </a:solidFill>
              </a:rPr>
              <a:t>label-based steps on train only</a:t>
            </a:r>
            <a:endParaRPr lang="en-US" sz="1400" dirty="0"/>
          </a:p>
          <a:p>
            <a:pPr indent="0" marL="0">
              <a:buNone/>
            </a:pPr>
            <a:r>
              <a:rPr lang="en-US" sz="1400" b="1" dirty="0">
                <a:solidFill>
                  <a:schemeClr val="tx1"/>
                </a:solidFill>
              </a:rPr>
              <a:t>Show uncertainty: </a:t>
            </a:r>
            <a:pPr indent="0" marL="0">
              <a:spcAft>
                <a:spcPts val="1000"/>
              </a:spcAft>
              <a:buNone/>
            </a:pPr>
            <a:r>
              <a:rPr lang="en-US" sz="1400" dirty="0">
                <a:solidFill>
                  <a:schemeClr val="tx1"/>
                </a:solidFill>
              </a:rPr>
              <a:t>bootstrap CIs, repeated CV</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Research gap and our contribution</a:t>
            </a:r>
            <a:endParaRPr lang="en-US" sz="3200" dirty="0"/>
          </a:p>
        </p:txBody>
      </p:sp>
      <p:sp>
        <p:nvSpPr>
          <p:cNvPr id="3" name="Step A circle"/>
          <p:cNvSpPr/>
          <p:nvPr/>
        </p:nvSpPr>
        <p:spPr>
          <a:xfrm>
            <a:off x="457200" y="1234440"/>
            <a:ext cx="457200" cy="457200"/>
          </a:xfrm>
          <a:prstGeom prst="ellipse">
            <a:avLst/>
          </a:prstGeom>
          <a:solidFill>
            <a:srgbClr val="1F7A8C"/>
          </a:solidFill>
          <a:ln w="12700">
            <a:solidFill>
              <a:srgbClr val="1F7A8C"/>
            </a:solidFill>
            <a:prstDash val="solid"/>
          </a:ln>
        </p:spPr>
      </p:sp>
      <p:sp>
        <p:nvSpPr>
          <p:cNvPr id="4" name="Step A number"/>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5" name="Step text A"/>
          <p:cNvSpPr txBox="1"/>
          <p:nvPr/>
        </p:nvSpPr>
        <p:spPr>
          <a:xfrm>
            <a:off x="1051560" y="1252728"/>
            <a:ext cx="3200400" cy="731520"/>
          </a:xfrm>
          <a:prstGeom prst="rect">
            <a:avLst/>
          </a:prstGeom>
          <a:noFill/>
          <a:ln/>
        </p:spPr>
        <p:txBody>
          <a:bodyPr wrap="square" lIns="0" tIns="0" rIns="0" bIns="0" rtlCol="0" anchor="t"/>
          <a:lstStyle/>
          <a:p>
            <a:pPr indent="0" marL="0">
              <a:buNone/>
            </a:pPr>
            <a:r>
              <a:rPr lang="en-US" sz="1400" dirty="0">
                <a:solidFill>
                  <a:schemeClr val="tx1"/>
                </a:solidFill>
              </a:rPr>
              <a:t>Re-implement the paper's pipeline as described</a:t>
            </a:r>
            <a:endParaRPr lang="en-US" sz="1400" dirty="0"/>
          </a:p>
        </p:txBody>
      </p:sp>
      <p:sp>
        <p:nvSpPr>
          <p:cNvPr id="6" name="Step B circle"/>
          <p:cNvSpPr/>
          <p:nvPr/>
        </p:nvSpPr>
        <p:spPr>
          <a:xfrm>
            <a:off x="457200" y="2103120"/>
            <a:ext cx="457200" cy="457200"/>
          </a:xfrm>
          <a:prstGeom prst="ellipse">
            <a:avLst/>
          </a:prstGeom>
          <a:solidFill>
            <a:srgbClr val="1F7A8C"/>
          </a:solidFill>
          <a:ln w="12700">
            <a:solidFill>
              <a:srgbClr val="1F7A8C"/>
            </a:solidFill>
            <a:prstDash val="solid"/>
          </a:ln>
        </p:spPr>
      </p:sp>
      <p:sp>
        <p:nvSpPr>
          <p:cNvPr id="7" name="Step B number"/>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8" name="Step text B"/>
          <p:cNvSpPr txBox="1"/>
          <p:nvPr/>
        </p:nvSpPr>
        <p:spPr>
          <a:xfrm>
            <a:off x="1051560" y="2121408"/>
            <a:ext cx="3200400" cy="731520"/>
          </a:xfrm>
          <a:prstGeom prst="rect">
            <a:avLst/>
          </a:prstGeom>
          <a:noFill/>
          <a:ln/>
        </p:spPr>
        <p:txBody>
          <a:bodyPr wrap="square" lIns="0" tIns="0" rIns="0" bIns="0" rtlCol="0" anchor="t"/>
          <a:lstStyle/>
          <a:p>
            <a:pPr indent="0" marL="0">
              <a:buNone/>
            </a:pPr>
            <a:r>
              <a:rPr lang="en-US" sz="1400" dirty="0">
                <a:solidFill>
                  <a:schemeClr val="tx1"/>
                </a:solidFill>
              </a:rPr>
              <a:t>Re-evaluate 4 models + XGBoost: split first, real test set, PR-AUC with CI</a:t>
            </a:r>
            <a:endParaRPr lang="en-US" sz="1400" dirty="0"/>
          </a:p>
        </p:txBody>
      </p:sp>
      <p:sp>
        <p:nvSpPr>
          <p:cNvPr id="9" name="Step C circle"/>
          <p:cNvSpPr/>
          <p:nvPr/>
        </p:nvSpPr>
        <p:spPr>
          <a:xfrm>
            <a:off x="457200" y="2971800"/>
            <a:ext cx="457200" cy="457200"/>
          </a:xfrm>
          <a:prstGeom prst="ellipse">
            <a:avLst/>
          </a:prstGeom>
          <a:solidFill>
            <a:srgbClr val="1F7A8C"/>
          </a:solidFill>
          <a:ln w="12700">
            <a:solidFill>
              <a:srgbClr val="1F7A8C"/>
            </a:solidFill>
            <a:prstDash val="solid"/>
          </a:ln>
        </p:spPr>
      </p:sp>
      <p:sp>
        <p:nvSpPr>
          <p:cNvPr id="10" name="Step C number"/>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1" name="Step text C"/>
          <p:cNvSpPr txBox="1"/>
          <p:nvPr/>
        </p:nvSpPr>
        <p:spPr>
          <a:xfrm>
            <a:off x="1051560" y="2990088"/>
            <a:ext cx="3200400" cy="731520"/>
          </a:xfrm>
          <a:prstGeom prst="rect">
            <a:avLst/>
          </a:prstGeom>
          <a:noFill/>
          <a:ln/>
        </p:spPr>
        <p:txBody>
          <a:bodyPr wrap="square" lIns="0" tIns="0" rIns="0" bIns="0" rtlCol="0" anchor="t"/>
          <a:lstStyle/>
          <a:p>
            <a:pPr indent="0" marL="0">
              <a:buNone/>
            </a:pPr>
            <a:r>
              <a:rPr lang="en-US" sz="1400" dirty="0">
                <a:solidFill>
                  <a:schemeClr val="tx1"/>
                </a:solidFill>
              </a:rPr>
              <a:t>Explain flagged cases with LIME</a:t>
            </a:r>
            <a:endParaRPr lang="en-US" sz="1400" dirty="0"/>
          </a:p>
        </p:txBody>
      </p:sp>
      <p:sp>
        <p:nvSpPr>
          <p:cNvPr id="12" name="Finding"/>
          <p:cNvSpPr txBox="1"/>
          <p:nvPr/>
        </p:nvSpPr>
        <p:spPr>
          <a:xfrm>
            <a:off x="457200" y="3886200"/>
            <a:ext cx="3840480" cy="731520"/>
          </a:xfrm>
          <a:prstGeom prst="rect">
            <a:avLst/>
          </a:prstGeom>
          <a:noFill/>
          <a:ln/>
        </p:spPr>
        <p:txBody>
          <a:bodyPr wrap="square" lIns="0" tIns="0" rIns="0" bIns="0" rtlCol="0" anchor="t"/>
          <a:lstStyle/>
          <a:p>
            <a:pPr indent="0" marL="0">
              <a:buNone/>
            </a:pPr>
            <a:r>
              <a:rPr lang="en-US" sz="1500" b="1" dirty="0">
                <a:solidFill>
                  <a:schemeClr val="accent3"/>
                </a:solidFill>
              </a:rPr>
              <a:t>The paper's near-perfect precision does not survive a realistic test set</a:t>
            </a:r>
            <a:endParaRPr lang="en-US" sz="1500" dirty="0"/>
          </a:p>
        </p:txBody>
      </p:sp>
      <p:graphicFrame>
        <p:nvGraphicFramePr>
          <p:cNvPr id="6" name="Random Forest settings table"/>
          <p:cNvGraphicFramePr>
            <a:graphicFrameLocks noGrp="1"/>
          </p:cNvGraphicFramePr>
          <p:nvPr>
            <p:extLst>
              <p:ext uri="{D42A27DB-BD31-4B8C-83A1-F6EECF244321}">
                <p14:modId xmlns:p14="http://schemas.microsoft.com/office/powerpoint/2010/main" val="1579011935"/>
              </p:ext>
            </p:extLst>
          </p:nvPr>
        </p:nvGraphicFramePr>
        <p:xfrm>
          <a:off x="4572000" y="1234440"/>
          <a:ext cx="4114800" cy="914400"/>
        </p:xfrm>
        <a:graphic>
          <a:graphicData uri="http://schemas.openxmlformats.org/drawingml/2006/table">
            <a:tbl>
              <a:tblPr/>
              <a:tblGrid>
                <a:gridCol w="1920240"/>
                <a:gridCol w="731520"/>
                <a:gridCol w="731520"/>
                <a:gridCol w="731520"/>
              </a:tblGrid>
              <a:tr h="457200">
                <a:tc>
                  <a:txBody>
                    <a:bodyPr/>
                    <a:lstStyle/>
                    <a:p>
                      <a:pPr algn="l" indent="0" marL="0">
                        <a:buNone/>
                      </a:pPr>
                      <a:r>
                        <a:rPr lang="en-US" sz="1200" b="1" dirty="0">
                          <a:solidFill>
                            <a:srgbClr val="FFFFFF"/>
                          </a:solidFill>
                        </a:rPr>
                        <a:t>Random Forest</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Prec %</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Recall %</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FP</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14213D"/>
                    </a:solidFill>
                  </a:tcPr>
                </a:tc>
              </a:tr>
              <a:tr h="457200">
                <a:tc>
                  <a:txBody>
                    <a:bodyPr/>
                    <a:lstStyle/>
                    <a:p>
                      <a:pPr algn="l" indent="0" marL="0">
                        <a:buNone/>
                      </a:pPr>
                      <a:r>
                        <a:rPr lang="en-US" sz="1200" dirty="0">
                          <a:solidFill>
                            <a:srgbClr val="14213D"/>
                          </a:solidFill>
                        </a:rPr>
                        <a:t>Paper, as reported</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100.00</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91.11</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0</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4213D"/>
                          </a:solidFill>
                        </a:rPr>
                        <a:t>Ours, paper-style (247 rows)</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94.68</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86.41</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5</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4213D"/>
                          </a:solidFill>
                        </a:rPr>
                        <a:t>Under-sampling, real test</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200" b="1" dirty="0">
                          <a:solidFill>
                            <a:srgbClr val="14213D"/>
                          </a:solidFill>
                        </a:rPr>
                        <a:t>4.30</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200" b="1" dirty="0">
                          <a:solidFill>
                            <a:srgbClr val="14213D"/>
                          </a:solidFill>
                        </a:rPr>
                        <a:t>91.84</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c>
                  <a:txBody>
                    <a:bodyPr/>
                    <a:lstStyle/>
                    <a:p>
                      <a:pPr algn="ctr" indent="0" marL="0">
                        <a:buNone/>
                      </a:pPr>
                      <a:r>
                        <a:rPr lang="en-US" sz="1200" b="1" dirty="0">
                          <a:solidFill>
                            <a:srgbClr val="14213D"/>
                          </a:solidFill>
                        </a:rPr>
                        <a:t>2,004</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DE9C3"/>
                    </a:solidFill>
                  </a:tcPr>
                </a:tc>
              </a:tr>
              <a:tr h="457200">
                <a:tc>
                  <a:txBody>
                    <a:bodyPr/>
                    <a:lstStyle/>
                    <a:p>
                      <a:pPr algn="l" indent="0" marL="0">
                        <a:buNone/>
                      </a:pPr>
                      <a:r>
                        <a:rPr lang="en-US" sz="1200" dirty="0">
                          <a:solidFill>
                            <a:srgbClr val="14213D"/>
                          </a:solidFill>
                        </a:rPr>
                        <a:t>SMOTE, real test</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88.30</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84.69</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11</a:t>
                      </a:r>
                      <a:endParaRPr lang="en-US" sz="1200" dirty="0"/>
                    </a:p>
                  </a:txBody>
                  <a:tcPr marL="91440" marR="91440" marT="45720" marB="45720" anchor="ctr">
                    <a:lnL w="9525" cap="flat" cmpd="sng" algn="ctr">
                      <a:solidFill>
                        <a:srgbClr val="C9D2E0"/>
                      </a:solidFill>
                      <a:prstDash val="solid"/>
                      <a:round/>
                      <a:headEnd type="none" w="med" len="med"/>
                      <a:tailEnd type="none" w="med" len="med"/>
                    </a:lnL>
                    <a:lnR w="9525" cap="flat" cmpd="sng" algn="ctr">
                      <a:solidFill>
                        <a:srgbClr val="C9D2E0"/>
                      </a:solidFill>
                      <a:prstDash val="solid"/>
                      <a:round/>
                      <a:headEnd type="none" w="med" len="med"/>
                      <a:tailEnd type="none" w="med" len="med"/>
                    </a:lnR>
                    <a:lnT w="9525" cap="flat" cmpd="sng" algn="ctr">
                      <a:solidFill>
                        <a:srgbClr val="C9D2E0"/>
                      </a:solidFill>
                      <a:prstDash val="solid"/>
                      <a:round/>
                      <a:headEnd type="none" w="med" len="med"/>
                      <a:tailEnd type="none" w="med" len="med"/>
                    </a:lnT>
                    <a:lnB w="9525" cap="flat" cmpd="sng" algn="ctr">
                      <a:solidFill>
                        <a:srgbClr val="C9D2E0"/>
                      </a:solidFill>
                      <a:prstDash val="solid"/>
                      <a:round/>
                      <a:headEnd type="none" w="med" len="med"/>
                      <a:tailEnd type="none" w="med" len="med"/>
                    </a:lnB>
                    <a:solidFill>
                      <a:srgbClr val="FFFFFF"/>
                    </a:solidFill>
                  </a:tcPr>
                </a:tc>
              </a:tr>
            </a:tbl>
          </a:graphicData>
        </a:graphic>
      </p:graphicFrame>
      <p:sp>
        <p:nvSpPr>
          <p:cNvPr id="14" name="Table note"/>
          <p:cNvSpPr txBox="1"/>
          <p:nvPr/>
        </p:nvSpPr>
        <p:spPr>
          <a:xfrm>
            <a:off x="4572000" y="3657600"/>
            <a:ext cx="4114800" cy="457200"/>
          </a:xfrm>
          <a:prstGeom prst="rect">
            <a:avLst/>
          </a:prstGeom>
          <a:noFill/>
          <a:ln/>
        </p:spPr>
        <p:txBody>
          <a:bodyPr wrap="square" lIns="0" tIns="0" rIns="0" bIns="0" rtlCol="0" anchor="t"/>
          <a:lstStyle/>
          <a:p>
            <a:pPr indent="0" marL="0">
              <a:buNone/>
            </a:pPr>
            <a:r>
              <a:rPr lang="en-US" sz="1200" dirty="0">
                <a:solidFill>
                  <a:schemeClr val="accent5"/>
                </a:solidFill>
              </a:rPr>
              <a:t>Real test set: 56,962 transactions, 98 fraud. FP = false alarms.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raud Study">
  <a:themeElements>
    <a:clrScheme name="Fraud Study">
      <a:dk1>
        <a:srgbClr val="14213D"/>
      </a:dk1>
      <a:lt1>
        <a:srgbClr val="FFFFFF"/>
      </a:lt1>
      <a:dk2>
        <a:srgbClr val="1F7A8C"/>
      </a:dk2>
      <a:lt2>
        <a:srgbClr val="EEF1F5"/>
      </a:lt2>
      <a:accent1>
        <a:srgbClr val="FCA311"/>
      </a:accent1>
      <a:accent2>
        <a:srgbClr val="1F7A8C"/>
      </a:accent2>
      <a:accent3>
        <a:srgbClr val="C0392B"/>
      </a:accent3>
      <a:accent4>
        <a:srgbClr val="2E7D4F"/>
      </a:accent4>
      <a:accent5>
        <a:srgbClr val="5B6B85"/>
      </a:accent5>
      <a:accent6>
        <a:srgbClr val="A9B8CF"/>
      </a:accent6>
      <a:hlink>
        <a:srgbClr val="1F7A8C"/>
      </a:hlink>
      <a:folHlink>
        <a:srgbClr val="5B6B85"/>
      </a:folHlink>
    </a:clrScheme>
    <a:fontScheme name="Fraud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Review: Credit Card Fraud Detection Using Machine Learning</dc:title>
  <dc:subject>PptxGenJS Presentation</dc:subject>
  <dc:creator>Gaurav Jain, Palash Matani</dc:creator>
  <cp:lastModifiedBy>Gaurav Jain, Palash Matani</cp:lastModifiedBy>
  <cp:revision>1</cp:revision>
  <dcterms:created xsi:type="dcterms:W3CDTF">2026-10-19T04:30:18Z</dcterms:created>
  <dcterms:modified xsi:type="dcterms:W3CDTF">2026-10-19T04:30:18Z</dcterms:modified>
</cp:coreProperties>
</file>