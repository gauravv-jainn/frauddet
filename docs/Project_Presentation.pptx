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3375f641-4dc6-7fa4-475e-5c6a5d645bad}">
          <p14:sldIdLst>
            <p14:sldId id="256"/>
          </p14:sldIdLst>
        </p14:section>
        <p14:section name="Base paper" id="{87b4476f-bd87-7500-1a36-fd52da826630}">
          <p14:sldIdLst>
            <p14:sldId id="257"/>
          </p14:sldIdLst>
        </p14:section>
        <p14:section name="Findings" id="{ec35b138-87b5-9965-f81d-0e12dbb3d766}">
          <p14:sldIdLst>
            <p14:sldId id="258"/>
            <p14:sldId id="259"/>
          </p14:sldIdLst>
        </p14:section>
        <p14:section name="Conclusion" id="{fbc4ce75-ea72-c838-9786-02fe1ef55914}">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fraud is rare (492 of 284,807). Always predicting genuine is 99.83% accurate and catches nothing, so accuracy is useless here. Our base paper is Tanouz et al. 2021. We reproduce it, find evaluation problems, fix them, and add SMOTE, XGBoost and LIME.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compares four classifiers and reports Random Forest as best: 96.77% accuracy, 100% precision, 91.11% recall. Note the order: all preparation happens before the split. Numbers on this slide are copied from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124-row figure is our own estimate: we solved for confusion matrices consistent with all four reported rows. Say 'we estimated', not 'the paper says'. In our own paper-style run (247 rows) the hard-label ROC-AUC equals balanced accuracy for every model. Errors per model on our 247-row set: RF 19, DT 23, LR 24, NB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Random Forest, same real-rate test set. Paper-style under-sampling gives 4.3% precision: about 22 false alarms for every fraud caught. SMOTE or no balancing gives 80%+ precision. But RF+SMOTE, RF alone and XGBoost have heavily overlapping confidence intervals, so do not claim SMOTE or XGBoost is clearly better. Decision Tree gets worse with SMOTE (see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 to V28 are anonymised PCA components, so LIME says which component mattered, not what it means in business terms. Lowering the decision threshold could catch the 0.33 case, but it would add false alarms. Be honest about the limits: one dataset, one random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Credit Card Fraud Detection  |  VESIT Mumbai</a:t>
            </a:r>
            <a:endParaRPr lang="en-US" sz="1000" dirty="0"/>
          </a:p>
        </p:txBody>
      </p:sp>
      <p:sp>
        <p:nvSpPr>
          <p:cNvPr id="3" name="Text 1"/>
          <p:cNvSpPr/>
          <p:nvPr>
            <p:ph idx="101"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chemeClr val="bg1"/>
                </a:solidFill>
              </a:rPr>
              <a:t>Credit Card Fraud Detection: Re-testing a Published Pipeline</a:t>
            </a:r>
            <a:endParaRPr lang="en-US" sz="3200" dirty="0"/>
          </a:p>
        </p:txBody>
      </p:sp>
      <p:sp>
        <p:nvSpPr>
          <p:cNvPr id="3" name="Subtitle"/>
          <p:cNvSpPr txBox="1"/>
          <p:nvPr/>
        </p:nvSpPr>
        <p:spPr>
          <a:xfrm>
            <a:off x="548640" y="1737360"/>
            <a:ext cx="4937760" cy="822960"/>
          </a:xfrm>
          <a:prstGeom prst="rect">
            <a:avLst/>
          </a:prstGeom>
          <a:noFill/>
          <a:ln/>
        </p:spPr>
        <p:txBody>
          <a:bodyPr wrap="square" lIns="0" tIns="0" rIns="0" bIns="0" rtlCol="0" anchor="t"/>
          <a:lstStyle/>
          <a:p>
            <a:pPr indent="0" marL="0">
              <a:buNone/>
            </a:pPr>
            <a:r>
              <a:rPr lang="en-US" sz="1600" dirty="0">
                <a:solidFill>
                  <a:schemeClr val="accent6"/>
                </a:solidFill>
              </a:rPr>
              <a:t>Reproducing Tanouz et al. (ICICCS 2021) on the Kaggle ULB dataset, then fixing its evaluation</a:t>
            </a:r>
            <a:endParaRPr lang="en-US" sz="1600" dirty="0"/>
          </a:p>
        </p:txBody>
      </p:sp>
      <p:sp>
        <p:nvSpPr>
          <p:cNvPr id="4" name="Authors"/>
          <p:cNvSpPr txBox="1"/>
          <p:nvPr/>
        </p:nvSpPr>
        <p:spPr>
          <a:xfrm>
            <a:off x="548640" y="3749040"/>
            <a:ext cx="5120640" cy="274320"/>
          </a:xfrm>
          <a:prstGeom prst="rect">
            <a:avLst/>
          </a:prstGeom>
          <a:noFill/>
          <a:ln/>
        </p:spPr>
        <p:txBody>
          <a:bodyPr wrap="square" lIns="0" tIns="0" rIns="0" bIns="0" rtlCol="0" anchor="t"/>
          <a:lstStyle/>
          <a:p>
            <a:pPr indent="0" marL="0">
              <a:buNone/>
            </a:pPr>
            <a:r>
              <a:rPr lang="en-US" sz="1400" b="1" dirty="0">
                <a:solidFill>
                  <a:schemeClr val="bg1"/>
                </a:solidFill>
              </a:rPr>
              <a:t>Gaurav Jain (D12B, Roll 20)  |  Palash Matani (D12B, Roll 38)</a:t>
            </a:r>
            <a:endParaRPr lang="en-US" sz="1400" dirty="0"/>
          </a:p>
        </p:txBody>
      </p:sp>
      <p:sp>
        <p:nvSpPr>
          <p:cNvPr id="5" name="Department"/>
          <p:cNvSpPr txBox="1"/>
          <p:nvPr/>
        </p:nvSpPr>
        <p:spPr>
          <a:xfrm>
            <a:off x="548640" y="4069080"/>
            <a:ext cx="5120640" cy="274320"/>
          </a:xfrm>
          <a:prstGeom prst="rect">
            <a:avLst/>
          </a:prstGeom>
          <a:noFill/>
          <a:ln/>
        </p:spPr>
        <p:txBody>
          <a:bodyPr wrap="square" lIns="0" tIns="0" rIns="0" bIns="0" rtlCol="0" anchor="t"/>
          <a:lstStyle/>
          <a:p>
            <a:pPr indent="0" marL="0">
              <a:buNone/>
            </a:pPr>
            <a:r>
              <a:rPr lang="en-US" sz="1400" dirty="0">
                <a:solidFill>
                  <a:schemeClr val="accent6"/>
                </a:solidFill>
              </a:rPr>
              <a:t>Department of Computer Engineering, VESIT Mumbai</a:t>
            </a:r>
            <a:endParaRPr lang="en-US" sz="1400" dirty="0"/>
          </a:p>
        </p:txBody>
      </p:sp>
      <p:sp>
        <p:nvSpPr>
          <p:cNvPr id="6" name="Stat panel"/>
          <p:cNvSpPr/>
          <p:nvPr/>
        </p:nvSpPr>
        <p:spPr>
          <a:xfrm>
            <a:off x="6035040" y="822960"/>
            <a:ext cx="2651760" cy="3383280"/>
          </a:xfrm>
          <a:prstGeom prst="roundRect">
            <a:avLst>
              <a:gd name="adj" fmla="val 5172"/>
            </a:avLst>
          </a:prstGeom>
          <a:solidFill>
            <a:schemeClr val="tx2">
              <a:alpha val="85000"/>
            </a:schemeClr>
          </a:solidFill>
          <a:ln w="12700">
            <a:solidFill>
              <a:schemeClr val="tx2"/>
            </a:solidFill>
            <a:prstDash val="solid"/>
          </a:ln>
        </p:spPr>
      </p:sp>
      <p:sp>
        <p:nvSpPr>
          <p:cNvPr id="7" name="Stat fraud rate"/>
          <p:cNvSpPr txBox="1"/>
          <p:nvPr/>
        </p:nvSpPr>
        <p:spPr>
          <a:xfrm>
            <a:off x="6217920" y="960120"/>
            <a:ext cx="2286000" cy="82296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0.17%</a:t>
            </a:r>
            <a:endParaRPr lang="en-US" sz="4800" dirty="0"/>
          </a:p>
        </p:txBody>
      </p:sp>
      <p:sp>
        <p:nvSpPr>
          <p:cNvPr id="8" name="Stat fraud label"/>
          <p:cNvSpPr txBox="1"/>
          <p:nvPr/>
        </p:nvSpPr>
        <p:spPr>
          <a:xfrm>
            <a:off x="6217920" y="1783080"/>
            <a:ext cx="2286000" cy="640080"/>
          </a:xfrm>
          <a:prstGeom prst="rect">
            <a:avLst/>
          </a:prstGeom>
          <a:noFill/>
          <a:ln/>
        </p:spPr>
        <p:txBody>
          <a:bodyPr wrap="square" lIns="0" tIns="0" rIns="0" bIns="0" rtlCol="0" anchor="t"/>
          <a:lstStyle/>
          <a:p>
            <a:pPr indent="0" marL="0">
              <a:buNone/>
            </a:pPr>
            <a:r>
              <a:rPr lang="en-US" sz="1400" dirty="0">
                <a:solidFill>
                  <a:schemeClr val="bg1"/>
                </a:solidFill>
              </a:rPr>
              <a:t>of 284,807 card transactions are fraud</a:t>
            </a:r>
            <a:endParaRPr lang="en-US" sz="1400" dirty="0"/>
          </a:p>
        </p:txBody>
      </p:sp>
      <p:sp>
        <p:nvSpPr>
          <p:cNvPr id="9" name="Stat accuracy"/>
          <p:cNvSpPr txBox="1"/>
          <p:nvPr/>
        </p:nvSpPr>
        <p:spPr>
          <a:xfrm>
            <a:off x="6217920" y="2560320"/>
            <a:ext cx="2286000" cy="82296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99.83%</a:t>
            </a:r>
            <a:endParaRPr lang="en-US" sz="4800" dirty="0"/>
          </a:p>
        </p:txBody>
      </p:sp>
      <p:sp>
        <p:nvSpPr>
          <p:cNvPr id="10" name="Stat accuracy label"/>
          <p:cNvSpPr txBox="1"/>
          <p:nvPr/>
        </p:nvSpPr>
        <p:spPr>
          <a:xfrm>
            <a:off x="6217920" y="3383280"/>
            <a:ext cx="2286000" cy="640080"/>
          </a:xfrm>
          <a:prstGeom prst="rect">
            <a:avLst/>
          </a:prstGeom>
          <a:noFill/>
          <a:ln/>
        </p:spPr>
        <p:txBody>
          <a:bodyPr wrap="square" lIns="0" tIns="0" rIns="0" bIns="0" rtlCol="0" anchor="t"/>
          <a:lstStyle/>
          <a:p>
            <a:pPr indent="0" marL="0">
              <a:buNone/>
            </a:pPr>
            <a:r>
              <a:rPr lang="en-US" sz="1400" dirty="0">
                <a:solidFill>
                  <a:schemeClr val="bg1"/>
                </a:solidFill>
              </a:rPr>
              <a:t>accuracy of a model that always says genuine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What the base paper does</a:t>
            </a:r>
            <a:endParaRPr lang="en-US" sz="3200" dirty="0"/>
          </a:p>
        </p:txBody>
      </p:sp>
      <p:sp>
        <p:nvSpPr>
          <p:cNvPr id="3" name="Step box Prepare"/>
          <p:cNvSpPr/>
          <p:nvPr/>
        </p:nvSpPr>
        <p:spPr>
          <a:xfrm>
            <a:off x="457200" y="1188720"/>
            <a:ext cx="1828800" cy="1371600"/>
          </a:xfrm>
          <a:prstGeom prst="roundRect">
            <a:avLst>
              <a:gd name="adj" fmla="val 6667"/>
            </a:avLst>
          </a:prstGeom>
          <a:solidFill>
            <a:schemeClr val="accent3">
              <a:alpha val="15000"/>
            </a:schemeClr>
          </a:solidFill>
          <a:ln w="12700">
            <a:solidFill>
              <a:schemeClr val="accent3"/>
            </a:solidFill>
            <a:prstDash val="solid"/>
          </a:ln>
        </p:spPr>
      </p:sp>
      <p:sp>
        <p:nvSpPr>
          <p:cNvPr id="4" name="Step text Prepare"/>
          <p:cNvSpPr txBox="1"/>
          <p:nvPr/>
        </p:nvSpPr>
        <p:spPr>
          <a:xfrm>
            <a:off x="566928" y="1261872"/>
            <a:ext cx="1609344" cy="1243584"/>
          </a:xfrm>
          <a:prstGeom prst="rect">
            <a:avLst/>
          </a:prstGeom>
          <a:noFill/>
          <a:ln/>
        </p:spPr>
        <p:txBody>
          <a:bodyPr wrap="square" lIns="0" tIns="0" rIns="0" bIns="0" rtlCol="0" anchor="t"/>
          <a:lstStyle/>
          <a:p>
            <a:pPr indent="0" marL="0">
              <a:buNone/>
            </a:pPr>
            <a:r>
              <a:rPr lang="en-US" sz="1500" b="1" dirty="0">
                <a:solidFill>
                  <a:schemeClr val="tx1"/>
                </a:solidFill>
              </a:rPr>
              <a:t>Prepare</a:t>
            </a:r>
            <a:endParaRPr lang="en-US" sz="1400" dirty="0"/>
          </a:p>
          <a:p>
            <a:pPr indent="0" marL="0">
              <a:buNone/>
            </a:pPr>
            <a:r>
              <a:rPr lang="en-US" sz="1400" dirty="0">
                <a:solidFill>
                  <a:schemeClr val="tx1"/>
                </a:solidFill>
              </a:rPr>
              <a:t>Normalise, under-sample 1:1, drop correlated features, remove outliers</a:t>
            </a:r>
            <a:endParaRPr lang="en-US" sz="1400" dirty="0"/>
          </a:p>
        </p:txBody>
      </p:sp>
      <p:sp>
        <p:nvSpPr>
          <p:cNvPr id="5" name="Arrow 1"/>
          <p:cNvSpPr/>
          <p:nvPr/>
        </p:nvSpPr>
        <p:spPr>
          <a:xfrm>
            <a:off x="2322576" y="1764792"/>
            <a:ext cx="228600" cy="219456"/>
          </a:xfrm>
          <a:prstGeom prst="rightArrow">
            <a:avLst/>
          </a:prstGeom>
          <a:solidFill>
            <a:schemeClr val="accent5"/>
          </a:solidFill>
          <a:ln w="12700">
            <a:solidFill>
              <a:schemeClr val="accent5"/>
            </a:solidFill>
            <a:prstDash val="solid"/>
          </a:ln>
        </p:spPr>
      </p:sp>
      <p:sp>
        <p:nvSpPr>
          <p:cNvPr id="6" name="Step box Split"/>
          <p:cNvSpPr/>
          <p:nvPr/>
        </p:nvSpPr>
        <p:spPr>
          <a:xfrm>
            <a:off x="2587752" y="1188720"/>
            <a:ext cx="1828800" cy="1371600"/>
          </a:xfrm>
          <a:prstGeom prst="roundRect">
            <a:avLst>
              <a:gd name="adj" fmla="val 6667"/>
            </a:avLst>
          </a:prstGeom>
          <a:solidFill>
            <a:schemeClr val="bg2"/>
          </a:solidFill>
          <a:ln w="12700">
            <a:solidFill>
              <a:schemeClr val="accent6"/>
            </a:solidFill>
            <a:prstDash val="solid"/>
          </a:ln>
        </p:spPr>
      </p:sp>
      <p:sp>
        <p:nvSpPr>
          <p:cNvPr id="7" name="Step text Split"/>
          <p:cNvSpPr txBox="1"/>
          <p:nvPr/>
        </p:nvSpPr>
        <p:spPr>
          <a:xfrm>
            <a:off x="2697480" y="1261872"/>
            <a:ext cx="1609344" cy="1243584"/>
          </a:xfrm>
          <a:prstGeom prst="rect">
            <a:avLst/>
          </a:prstGeom>
          <a:noFill/>
          <a:ln/>
        </p:spPr>
        <p:txBody>
          <a:bodyPr wrap="square" lIns="0" tIns="0" rIns="0" bIns="0" rtlCol="0" anchor="t"/>
          <a:lstStyle/>
          <a:p>
            <a:pPr indent="0" marL="0">
              <a:buNone/>
            </a:pPr>
            <a:r>
              <a:rPr lang="en-US" sz="1500" b="1" dirty="0">
                <a:solidFill>
                  <a:schemeClr val="tx1"/>
                </a:solidFill>
              </a:rPr>
              <a:t>Split</a:t>
            </a:r>
            <a:endParaRPr lang="en-US" sz="1400" dirty="0"/>
          </a:p>
          <a:p>
            <a:pPr indent="0" marL="0">
              <a:buNone/>
            </a:pPr>
            <a:r>
              <a:rPr lang="en-US" sz="1400" dirty="0">
                <a:solidFill>
                  <a:schemeClr val="tx1"/>
                </a:solidFill>
              </a:rPr>
              <a:t>70/30 train-test split of the prepared data</a:t>
            </a:r>
            <a:endParaRPr lang="en-US" sz="1400" dirty="0"/>
          </a:p>
        </p:txBody>
      </p:sp>
      <p:sp>
        <p:nvSpPr>
          <p:cNvPr id="8" name="Arrow 2"/>
          <p:cNvSpPr/>
          <p:nvPr/>
        </p:nvSpPr>
        <p:spPr>
          <a:xfrm>
            <a:off x="4453128" y="1764792"/>
            <a:ext cx="228600" cy="219456"/>
          </a:xfrm>
          <a:prstGeom prst="rightArrow">
            <a:avLst/>
          </a:prstGeom>
          <a:solidFill>
            <a:schemeClr val="accent5"/>
          </a:solidFill>
          <a:ln w="12700">
            <a:solidFill>
              <a:schemeClr val="accent5"/>
            </a:solidFill>
            <a:prstDash val="solid"/>
          </a:ln>
        </p:spPr>
      </p:sp>
      <p:sp>
        <p:nvSpPr>
          <p:cNvPr id="9" name="Step box Train"/>
          <p:cNvSpPr/>
          <p:nvPr/>
        </p:nvSpPr>
        <p:spPr>
          <a:xfrm>
            <a:off x="4718304" y="1188720"/>
            <a:ext cx="1828800" cy="1371600"/>
          </a:xfrm>
          <a:prstGeom prst="roundRect">
            <a:avLst>
              <a:gd name="adj" fmla="val 6667"/>
            </a:avLst>
          </a:prstGeom>
          <a:solidFill>
            <a:schemeClr val="bg2"/>
          </a:solidFill>
          <a:ln w="12700">
            <a:solidFill>
              <a:schemeClr val="accent6"/>
            </a:solidFill>
            <a:prstDash val="solid"/>
          </a:ln>
        </p:spPr>
      </p:sp>
      <p:sp>
        <p:nvSpPr>
          <p:cNvPr id="10" name="Step text Train"/>
          <p:cNvSpPr txBox="1"/>
          <p:nvPr/>
        </p:nvSpPr>
        <p:spPr>
          <a:xfrm>
            <a:off x="4828032" y="1261872"/>
            <a:ext cx="1609344" cy="1243584"/>
          </a:xfrm>
          <a:prstGeom prst="rect">
            <a:avLst/>
          </a:prstGeom>
          <a:noFill/>
          <a:ln/>
        </p:spPr>
        <p:txBody>
          <a:bodyPr wrap="square" lIns="0" tIns="0" rIns="0" bIns="0" rtlCol="0" anchor="t"/>
          <a:lstStyle/>
          <a:p>
            <a:pPr indent="0" marL="0">
              <a:buNone/>
            </a:pPr>
            <a:r>
              <a:rPr lang="en-US" sz="1500" b="1" dirty="0">
                <a:solidFill>
                  <a:schemeClr val="tx1"/>
                </a:solidFill>
              </a:rPr>
              <a:t>Train</a:t>
            </a:r>
            <a:endParaRPr lang="en-US" sz="1400" dirty="0"/>
          </a:p>
          <a:p>
            <a:pPr indent="0" marL="0">
              <a:buNone/>
            </a:pPr>
            <a:r>
              <a:rPr lang="en-US" sz="1400" dirty="0">
                <a:solidFill>
                  <a:schemeClr val="tx1"/>
                </a:solidFill>
              </a:rPr>
              <a:t>Decision Tree, Random Forest, Logistic Regression, Naive Bayes</a:t>
            </a:r>
            <a:endParaRPr lang="en-US" sz="1400" dirty="0"/>
          </a:p>
        </p:txBody>
      </p:sp>
      <p:sp>
        <p:nvSpPr>
          <p:cNvPr id="11" name="Arrow 3"/>
          <p:cNvSpPr/>
          <p:nvPr/>
        </p:nvSpPr>
        <p:spPr>
          <a:xfrm>
            <a:off x="6583680" y="1764792"/>
            <a:ext cx="228600" cy="219456"/>
          </a:xfrm>
          <a:prstGeom prst="rightArrow">
            <a:avLst/>
          </a:prstGeom>
          <a:solidFill>
            <a:schemeClr val="accent5"/>
          </a:solidFill>
          <a:ln w="12700">
            <a:solidFill>
              <a:schemeClr val="accent5"/>
            </a:solidFill>
            <a:prstDash val="solid"/>
          </a:ln>
        </p:spPr>
      </p:sp>
      <p:sp>
        <p:nvSpPr>
          <p:cNvPr id="12" name="Step box Report"/>
          <p:cNvSpPr/>
          <p:nvPr/>
        </p:nvSpPr>
        <p:spPr>
          <a:xfrm>
            <a:off x="6848856" y="1188720"/>
            <a:ext cx="1828800" cy="1371600"/>
          </a:xfrm>
          <a:prstGeom prst="roundRect">
            <a:avLst>
              <a:gd name="adj" fmla="val 6667"/>
            </a:avLst>
          </a:prstGeom>
          <a:solidFill>
            <a:schemeClr val="bg2"/>
          </a:solidFill>
          <a:ln w="12700">
            <a:solidFill>
              <a:schemeClr val="accent6"/>
            </a:solidFill>
            <a:prstDash val="solid"/>
          </a:ln>
        </p:spPr>
      </p:sp>
      <p:sp>
        <p:nvSpPr>
          <p:cNvPr id="13" name="Step text Report"/>
          <p:cNvSpPr txBox="1"/>
          <p:nvPr/>
        </p:nvSpPr>
        <p:spPr>
          <a:xfrm>
            <a:off x="6958584" y="1261872"/>
            <a:ext cx="1609344" cy="1243584"/>
          </a:xfrm>
          <a:prstGeom prst="rect">
            <a:avLst/>
          </a:prstGeom>
          <a:noFill/>
          <a:ln/>
        </p:spPr>
        <p:txBody>
          <a:bodyPr wrap="square" lIns="0" tIns="0" rIns="0" bIns="0" rtlCol="0" anchor="t"/>
          <a:lstStyle/>
          <a:p>
            <a:pPr indent="0" marL="0">
              <a:buNone/>
            </a:pPr>
            <a:r>
              <a:rPr lang="en-US" sz="1500" b="1" dirty="0">
                <a:solidFill>
                  <a:schemeClr val="tx1"/>
                </a:solidFill>
              </a:rPr>
              <a:t>Report</a:t>
            </a:r>
            <a:endParaRPr lang="en-US" sz="1400" dirty="0"/>
          </a:p>
          <a:p>
            <a:pPr indent="0" marL="0">
              <a:buNone/>
            </a:pPr>
            <a:r>
              <a:rPr lang="en-US" sz="1400" dirty="0">
                <a:solidFill>
                  <a:schemeClr val="tx1"/>
                </a:solidFill>
              </a:rPr>
              <a:t>Accuracy, precision, recall, F1 and "ROC-AUC"</a:t>
            </a:r>
            <a:endParaRPr lang="en-US" sz="1400" dirty="0"/>
          </a:p>
        </p:txBody>
      </p:sp>
      <p:graphicFrame>
        <p:nvGraphicFramePr>
          <p:cNvPr id="3" name="Paper results table"/>
          <p:cNvGraphicFramePr>
            <a:graphicFrameLocks noGrp="1"/>
          </p:cNvGraphicFramePr>
          <p:nvPr>
            <p:extLst>
              <p:ext uri="{D42A27DB-BD31-4B8C-83A1-F6EECF244321}">
                <p14:modId xmlns:p14="http://schemas.microsoft.com/office/powerpoint/2010/main" val="1579011935"/>
              </p:ext>
            </p:extLst>
          </p:nvPr>
        </p:nvGraphicFramePr>
        <p:xfrm>
          <a:off x="457200" y="2743200"/>
          <a:ext cx="8229600" cy="914400"/>
        </p:xfrm>
        <a:graphic>
          <a:graphicData uri="http://schemas.openxmlformats.org/drawingml/2006/table">
            <a:tbl>
              <a:tblPr/>
              <a:tblGrid>
                <a:gridCol w="2468880"/>
                <a:gridCol w="914400"/>
                <a:gridCol w="914400"/>
                <a:gridCol w="1005840"/>
                <a:gridCol w="914400"/>
                <a:gridCol w="1097280"/>
              </a:tblGrid>
              <a:tr h="301752">
                <a:tc>
                  <a:txBody>
                    <a:bodyPr/>
                    <a:lstStyle/>
                    <a:p>
                      <a:pPr indent="0" marL="0">
                        <a:buNone/>
                      </a:pPr>
                      <a:r>
                        <a:rPr lang="en-US" sz="1300" b="1" dirty="0">
                          <a:solidFill>
                            <a:srgbClr val="FFFFFF"/>
                          </a:solidFill>
                        </a:rPr>
                        <a:t>Model (as reported by the paper)</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rPr>
                        <a:t>Acc %</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rPr>
                        <a:t>Prec %</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rPr>
                        <a:t>Recall %</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rPr>
                        <a:t>F1 %</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rPr>
                        <a:t>ROC-AUC %</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14213D"/>
                    </a:solidFill>
                  </a:tcPr>
                </a:tc>
              </a:tr>
              <a:tr h="301752">
                <a:tc>
                  <a:txBody>
                    <a:bodyPr/>
                    <a:lstStyle/>
                    <a:p>
                      <a:pPr algn="l" indent="0" marL="0">
                        <a:buNone/>
                      </a:pPr>
                      <a:r>
                        <a:rPr lang="en-US" sz="1300" dirty="0">
                          <a:solidFill>
                            <a:srgbClr val="14213D"/>
                          </a:solidFill>
                        </a:rPr>
                        <a:t>Decision Tree</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rPr>
                        <a:t>91.12</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rPr>
                        <a:t>86.95</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rPr>
                        <a:t>88.88</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rPr>
                        <a:t>87.91</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rPr>
                        <a:t>90.64</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r>
              <a:tr h="301752">
                <a:tc>
                  <a:txBody>
                    <a:bodyPr/>
                    <a:lstStyle/>
                    <a:p>
                      <a:pPr algn="l" indent="0" marL="0">
                        <a:buNone/>
                      </a:pPr>
                      <a:r>
                        <a:rPr lang="en-US" sz="1300" b="1" dirty="0">
                          <a:solidFill>
                            <a:srgbClr val="14213D"/>
                          </a:solidFill>
                        </a:rPr>
                        <a:t>Random Forest (best)</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DE9C3"/>
                    </a:solidFill>
                  </a:tcPr>
                </a:tc>
                <a:tc>
                  <a:txBody>
                    <a:bodyPr/>
                    <a:lstStyle/>
                    <a:p>
                      <a:pPr algn="ctr" indent="0" marL="0">
                        <a:buNone/>
                      </a:pPr>
                      <a:r>
                        <a:rPr lang="en-US" sz="1300" b="1" dirty="0">
                          <a:solidFill>
                            <a:srgbClr val="14213D"/>
                          </a:solidFill>
                        </a:rPr>
                        <a:t>96.77</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DE9C3"/>
                    </a:solidFill>
                  </a:tcPr>
                </a:tc>
                <a:tc>
                  <a:txBody>
                    <a:bodyPr/>
                    <a:lstStyle/>
                    <a:p>
                      <a:pPr algn="ctr" indent="0" marL="0">
                        <a:buNone/>
                      </a:pPr>
                      <a:r>
                        <a:rPr lang="en-US" sz="1300" b="1" dirty="0">
                          <a:solidFill>
                            <a:srgbClr val="14213D"/>
                          </a:solidFill>
                        </a:rPr>
                        <a:t>100.00</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DE9C3"/>
                    </a:solidFill>
                  </a:tcPr>
                </a:tc>
                <a:tc>
                  <a:txBody>
                    <a:bodyPr/>
                    <a:lstStyle/>
                    <a:p>
                      <a:pPr algn="ctr" indent="0" marL="0">
                        <a:buNone/>
                      </a:pPr>
                      <a:r>
                        <a:rPr lang="en-US" sz="1300" b="1" dirty="0">
                          <a:solidFill>
                            <a:srgbClr val="14213D"/>
                          </a:solidFill>
                        </a:rPr>
                        <a:t>91.11</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DE9C3"/>
                    </a:solidFill>
                  </a:tcPr>
                </a:tc>
                <a:tc>
                  <a:txBody>
                    <a:bodyPr/>
                    <a:lstStyle/>
                    <a:p>
                      <a:pPr algn="ctr" indent="0" marL="0">
                        <a:buNone/>
                      </a:pPr>
                      <a:r>
                        <a:rPr lang="en-US" sz="1300" b="1" dirty="0">
                          <a:solidFill>
                            <a:srgbClr val="14213D"/>
                          </a:solidFill>
                        </a:rPr>
                        <a:t>95.34</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DE9C3"/>
                    </a:solidFill>
                  </a:tcPr>
                </a:tc>
                <a:tc>
                  <a:txBody>
                    <a:bodyPr/>
                    <a:lstStyle/>
                    <a:p>
                      <a:pPr algn="ctr" indent="0" marL="0">
                        <a:buNone/>
                      </a:pPr>
                      <a:r>
                        <a:rPr lang="en-US" sz="1300" b="1" dirty="0">
                          <a:solidFill>
                            <a:srgbClr val="14213D"/>
                          </a:solidFill>
                        </a:rPr>
                        <a:t>95.55</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DE9C3"/>
                    </a:solidFill>
                  </a:tcPr>
                </a:tc>
              </a:tr>
              <a:tr h="301752">
                <a:tc>
                  <a:txBody>
                    <a:bodyPr/>
                    <a:lstStyle/>
                    <a:p>
                      <a:pPr algn="l" indent="0" marL="0">
                        <a:buNone/>
                      </a:pPr>
                      <a:r>
                        <a:rPr lang="en-US" sz="1300" dirty="0">
                          <a:solidFill>
                            <a:srgbClr val="14213D"/>
                          </a:solidFill>
                        </a:rPr>
                        <a:t>Logistic Regression</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rPr>
                        <a:t>95.16</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rPr>
                        <a:t>95.34</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rPr>
                        <a:t>91.11</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rPr>
                        <a:t>93.18</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rPr>
                        <a:t>94.28</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r>
              <a:tr h="301752">
                <a:tc>
                  <a:txBody>
                    <a:bodyPr/>
                    <a:lstStyle/>
                    <a:p>
                      <a:pPr algn="l" indent="0" marL="0">
                        <a:buNone/>
                      </a:pPr>
                      <a:r>
                        <a:rPr lang="en-US" sz="1300" dirty="0">
                          <a:solidFill>
                            <a:srgbClr val="14213D"/>
                          </a:solidFill>
                        </a:rPr>
                        <a:t>Naive Bayes</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rPr>
                        <a:t>95.16</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rPr>
                        <a:t>100.00</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rPr>
                        <a:t>86.66</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rPr>
                        <a:t>92.85</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rPr>
                        <a:t>93.33</a:t>
                      </a:r>
                      <a:endParaRPr lang="en-US" sz="13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r>
            </a:tbl>
          </a:graphicData>
        </a:graphic>
      </p:graphicFrame>
      <p:sp>
        <p:nvSpPr>
          <p:cNvPr id="15" name="Table source"/>
          <p:cNvSpPr txBox="1"/>
          <p:nvPr/>
        </p:nvSpPr>
        <p:spPr>
          <a:xfrm>
            <a:off x="457200" y="4480560"/>
            <a:ext cx="5486400" cy="228600"/>
          </a:xfrm>
          <a:prstGeom prst="rect">
            <a:avLst/>
          </a:prstGeom>
          <a:noFill/>
          <a:ln/>
        </p:spPr>
        <p:txBody>
          <a:bodyPr wrap="square" lIns="0" tIns="0" rIns="0" bIns="0" rtlCol="0" anchor="t"/>
          <a:lstStyle/>
          <a:p>
            <a:pPr indent="0" marL="0">
              <a:buNone/>
            </a:pPr>
            <a:r>
              <a:rPr lang="en-US" sz="1100" dirty="0">
                <a:solidFill>
                  <a:schemeClr val="accent5"/>
                </a:solidFill>
              </a:rPr>
              <a:t>Source: Tanouz et al. [4], reported results</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Four weaknesses we found</a:t>
            </a:r>
            <a:endParaRPr lang="en-US" sz="3200" dirty="0"/>
          </a:p>
        </p:txBody>
      </p:sp>
      <p:sp>
        <p:nvSpPr>
          <p:cNvPr id="3" name="Flaw card 1"/>
          <p:cNvSpPr/>
          <p:nvPr/>
        </p:nvSpPr>
        <p:spPr>
          <a:xfrm>
            <a:off x="457200" y="1188720"/>
            <a:ext cx="4023360" cy="1554480"/>
          </a:xfrm>
          <a:prstGeom prst="roundRect">
            <a:avLst>
              <a:gd name="adj" fmla="val 5882"/>
            </a:avLst>
          </a:prstGeom>
          <a:solidFill>
            <a:schemeClr val="bg2"/>
          </a:solidFill>
          <a:ln w="12700">
            <a:solidFill>
              <a:schemeClr val="bg2"/>
            </a:solidFill>
            <a:prstDash val="solid"/>
          </a:ln>
        </p:spPr>
      </p:sp>
      <p:sp>
        <p:nvSpPr>
          <p:cNvPr id="4" name="Flaw 1 circle"/>
          <p:cNvSpPr/>
          <p:nvPr/>
        </p:nvSpPr>
        <p:spPr>
          <a:xfrm>
            <a:off x="640080" y="1371600"/>
            <a:ext cx="457200" cy="457200"/>
          </a:xfrm>
          <a:prstGeom prst="ellipse">
            <a:avLst/>
          </a:prstGeom>
          <a:solidFill>
            <a:srgbClr val="C0392B"/>
          </a:solidFill>
          <a:ln w="12700">
            <a:solidFill>
              <a:srgbClr val="C0392B"/>
            </a:solidFill>
            <a:prstDash val="solid"/>
          </a:ln>
        </p:spPr>
      </p:sp>
      <p:sp>
        <p:nvSpPr>
          <p:cNvPr id="5" name="Flaw 1 number"/>
          <p:cNvSpPr txBox="1"/>
          <p:nvPr/>
        </p:nvSpPr>
        <p:spPr>
          <a:xfrm>
            <a:off x="640080"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Flaw text 1"/>
          <p:cNvSpPr txBox="1"/>
          <p:nvPr/>
        </p:nvSpPr>
        <p:spPr>
          <a:xfrm>
            <a:off x="1280160" y="1325880"/>
            <a:ext cx="3063240" cy="1280160"/>
          </a:xfrm>
          <a:prstGeom prst="rect">
            <a:avLst/>
          </a:prstGeom>
          <a:noFill/>
          <a:ln/>
        </p:spPr>
        <p:txBody>
          <a:bodyPr wrap="square" lIns="0" tIns="0" rIns="0" bIns="0" rtlCol="0" anchor="t"/>
          <a:lstStyle/>
          <a:p>
            <a:pPr indent="0" marL="0">
              <a:buNone/>
            </a:pPr>
            <a:r>
              <a:rPr lang="en-US" sz="1500" b="1" dirty="0">
                <a:solidFill>
                  <a:schemeClr val="tx1"/>
                </a:solidFill>
              </a:rPr>
              <a:t>Tiny, balanced test set</a:t>
            </a:r>
            <a:endParaRPr lang="en-US" sz="1400" dirty="0"/>
          </a:p>
          <a:p>
            <a:pPr indent="0" marL="0">
              <a:buNone/>
            </a:pPr>
            <a:r>
              <a:rPr lang="en-US" sz="1400" dirty="0">
                <a:solidFill>
                  <a:schemeClr val="tx1"/>
                </a:solidFill>
              </a:rPr>
              <a:t>Scores imply about 124 test rows (our estimate); the real fraud rate is 0.17%.</a:t>
            </a:r>
            <a:endParaRPr lang="en-US" sz="1400" dirty="0"/>
          </a:p>
        </p:txBody>
      </p:sp>
      <p:sp>
        <p:nvSpPr>
          <p:cNvPr id="7" name="Flaw card 2"/>
          <p:cNvSpPr/>
          <p:nvPr/>
        </p:nvSpPr>
        <p:spPr>
          <a:xfrm>
            <a:off x="4663440" y="1188720"/>
            <a:ext cx="4023360" cy="1554480"/>
          </a:xfrm>
          <a:prstGeom prst="roundRect">
            <a:avLst>
              <a:gd name="adj" fmla="val 5882"/>
            </a:avLst>
          </a:prstGeom>
          <a:solidFill>
            <a:schemeClr val="bg2"/>
          </a:solidFill>
          <a:ln w="12700">
            <a:solidFill>
              <a:schemeClr val="bg2"/>
            </a:solidFill>
            <a:prstDash val="solid"/>
          </a:ln>
        </p:spPr>
      </p:sp>
      <p:sp>
        <p:nvSpPr>
          <p:cNvPr id="8" name="Flaw 2 circle"/>
          <p:cNvSpPr/>
          <p:nvPr/>
        </p:nvSpPr>
        <p:spPr>
          <a:xfrm>
            <a:off x="4846320" y="1371600"/>
            <a:ext cx="457200" cy="457200"/>
          </a:xfrm>
          <a:prstGeom prst="ellipse">
            <a:avLst/>
          </a:prstGeom>
          <a:solidFill>
            <a:srgbClr val="C0392B"/>
          </a:solidFill>
          <a:ln w="12700">
            <a:solidFill>
              <a:srgbClr val="C0392B"/>
            </a:solidFill>
            <a:prstDash val="solid"/>
          </a:ln>
        </p:spPr>
      </p:sp>
      <p:sp>
        <p:nvSpPr>
          <p:cNvPr id="9" name="Flaw 2 number"/>
          <p:cNvSpPr txBox="1"/>
          <p:nvPr/>
        </p:nvSpPr>
        <p:spPr>
          <a:xfrm>
            <a:off x="4846320"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Flaw text 2"/>
          <p:cNvSpPr txBox="1"/>
          <p:nvPr/>
        </p:nvSpPr>
        <p:spPr>
          <a:xfrm>
            <a:off x="5486400" y="1325880"/>
            <a:ext cx="3063240" cy="1280160"/>
          </a:xfrm>
          <a:prstGeom prst="rect">
            <a:avLst/>
          </a:prstGeom>
          <a:noFill/>
          <a:ln/>
        </p:spPr>
        <p:txBody>
          <a:bodyPr wrap="square" lIns="0" tIns="0" rIns="0" bIns="0" rtlCol="0" anchor="t"/>
          <a:lstStyle/>
          <a:p>
            <a:pPr indent="0" marL="0">
              <a:buNone/>
            </a:pPr>
            <a:r>
              <a:rPr lang="en-US" sz="1500" b="1" dirty="0">
                <a:solidFill>
                  <a:schemeClr val="tx1"/>
                </a:solidFill>
              </a:rPr>
              <a:t>Split comes last</a:t>
            </a:r>
            <a:endParaRPr lang="en-US" sz="1400" dirty="0"/>
          </a:p>
          <a:p>
            <a:pPr indent="0" marL="0">
              <a:buNone/>
            </a:pPr>
            <a:r>
              <a:rPr lang="en-US" sz="1400" dirty="0">
                <a:solidFill>
                  <a:schemeClr val="tx1"/>
                </a:solidFill>
              </a:rPr>
              <a:t>Under-sampling, feature drop and outlier removal see all labels first.</a:t>
            </a:r>
            <a:endParaRPr lang="en-US" sz="1400" dirty="0"/>
          </a:p>
        </p:txBody>
      </p:sp>
      <p:sp>
        <p:nvSpPr>
          <p:cNvPr id="11" name="Flaw card 3"/>
          <p:cNvSpPr/>
          <p:nvPr/>
        </p:nvSpPr>
        <p:spPr>
          <a:xfrm>
            <a:off x="457200" y="2926080"/>
            <a:ext cx="4023360" cy="1554480"/>
          </a:xfrm>
          <a:prstGeom prst="roundRect">
            <a:avLst>
              <a:gd name="adj" fmla="val 5882"/>
            </a:avLst>
          </a:prstGeom>
          <a:solidFill>
            <a:schemeClr val="bg2"/>
          </a:solidFill>
          <a:ln w="12700">
            <a:solidFill>
              <a:schemeClr val="bg2"/>
            </a:solidFill>
            <a:prstDash val="solid"/>
          </a:ln>
        </p:spPr>
      </p:sp>
      <p:sp>
        <p:nvSpPr>
          <p:cNvPr id="12" name="Flaw 3 circle"/>
          <p:cNvSpPr/>
          <p:nvPr/>
        </p:nvSpPr>
        <p:spPr>
          <a:xfrm>
            <a:off x="640080" y="3108960"/>
            <a:ext cx="457200" cy="457200"/>
          </a:xfrm>
          <a:prstGeom prst="ellipse">
            <a:avLst/>
          </a:prstGeom>
          <a:solidFill>
            <a:srgbClr val="C0392B"/>
          </a:solidFill>
          <a:ln w="12700">
            <a:solidFill>
              <a:srgbClr val="C0392B"/>
            </a:solidFill>
            <a:prstDash val="solid"/>
          </a:ln>
        </p:spPr>
      </p:sp>
      <p:sp>
        <p:nvSpPr>
          <p:cNvPr id="13" name="Flaw 3 number"/>
          <p:cNvSpPr txBox="1"/>
          <p:nvPr/>
        </p:nvSpPr>
        <p:spPr>
          <a:xfrm>
            <a:off x="640080" y="3108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Flaw text 3"/>
          <p:cNvSpPr txBox="1"/>
          <p:nvPr/>
        </p:nvSpPr>
        <p:spPr>
          <a:xfrm>
            <a:off x="1280160" y="3063240"/>
            <a:ext cx="3063240" cy="1280160"/>
          </a:xfrm>
          <a:prstGeom prst="rect">
            <a:avLst/>
          </a:prstGeom>
          <a:noFill/>
          <a:ln/>
        </p:spPr>
        <p:txBody>
          <a:bodyPr wrap="square" lIns="0" tIns="0" rIns="0" bIns="0" rtlCol="0" anchor="t"/>
          <a:lstStyle/>
          <a:p>
            <a:pPr indent="0" marL="0">
              <a:buNone/>
            </a:pPr>
            <a:r>
              <a:rPr lang="en-US" sz="1500" b="1" dirty="0">
                <a:solidFill>
                  <a:schemeClr val="tx1"/>
                </a:solidFill>
              </a:rPr>
              <a:t>"ROC-AUC" is balanced accuracy</a:t>
            </a:r>
            <a:endParaRPr lang="en-US" sz="1400" dirty="0"/>
          </a:p>
          <a:p>
            <a:pPr indent="0" marL="0">
              <a:buNone/>
            </a:pPr>
            <a:r>
              <a:rPr lang="en-US" sz="1400" dirty="0">
                <a:solidFill>
                  <a:schemeClr val="tx1"/>
                </a:solidFill>
              </a:rPr>
              <a:t>Identical for all 4 models in our reproduction.</a:t>
            </a:r>
            <a:endParaRPr lang="en-US" sz="1400" dirty="0"/>
          </a:p>
        </p:txBody>
      </p:sp>
      <p:sp>
        <p:nvSpPr>
          <p:cNvPr id="15" name="Flaw card 4"/>
          <p:cNvSpPr/>
          <p:nvPr/>
        </p:nvSpPr>
        <p:spPr>
          <a:xfrm>
            <a:off x="4663440" y="2926080"/>
            <a:ext cx="4023360" cy="1554480"/>
          </a:xfrm>
          <a:prstGeom prst="roundRect">
            <a:avLst>
              <a:gd name="adj" fmla="val 5882"/>
            </a:avLst>
          </a:prstGeom>
          <a:solidFill>
            <a:schemeClr val="bg2"/>
          </a:solidFill>
          <a:ln w="12700">
            <a:solidFill>
              <a:schemeClr val="bg2"/>
            </a:solidFill>
            <a:prstDash val="solid"/>
          </a:ln>
        </p:spPr>
      </p:sp>
      <p:sp>
        <p:nvSpPr>
          <p:cNvPr id="16" name="Flaw 4 circle"/>
          <p:cNvSpPr/>
          <p:nvPr/>
        </p:nvSpPr>
        <p:spPr>
          <a:xfrm>
            <a:off x="4846320" y="3108960"/>
            <a:ext cx="457200" cy="457200"/>
          </a:xfrm>
          <a:prstGeom prst="ellipse">
            <a:avLst/>
          </a:prstGeom>
          <a:solidFill>
            <a:srgbClr val="C0392B"/>
          </a:solidFill>
          <a:ln w="12700">
            <a:solidFill>
              <a:srgbClr val="C0392B"/>
            </a:solidFill>
            <a:prstDash val="solid"/>
          </a:ln>
        </p:spPr>
      </p:sp>
      <p:sp>
        <p:nvSpPr>
          <p:cNvPr id="17" name="Flaw 4 number"/>
          <p:cNvSpPr txBox="1"/>
          <p:nvPr/>
        </p:nvSpPr>
        <p:spPr>
          <a:xfrm>
            <a:off x="4846320" y="3108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Flaw text 4"/>
          <p:cNvSpPr txBox="1"/>
          <p:nvPr/>
        </p:nvSpPr>
        <p:spPr>
          <a:xfrm>
            <a:off x="5486400" y="3063240"/>
            <a:ext cx="3063240" cy="1280160"/>
          </a:xfrm>
          <a:prstGeom prst="rect">
            <a:avLst/>
          </a:prstGeom>
          <a:noFill/>
          <a:ln/>
        </p:spPr>
        <p:txBody>
          <a:bodyPr wrap="square" lIns="0" tIns="0" rIns="0" bIns="0" rtlCol="0" anchor="t"/>
          <a:lstStyle/>
          <a:p>
            <a:pPr indent="0" marL="0">
              <a:buNone/>
            </a:pPr>
            <a:r>
              <a:rPr lang="en-US" sz="1500" b="1" dirty="0">
                <a:solidFill>
                  <a:schemeClr val="tx1"/>
                </a:solidFill>
              </a:rPr>
              <a:t>Models differ by a few errors</a:t>
            </a:r>
            <a:endParaRPr lang="en-US" sz="1400" dirty="0"/>
          </a:p>
          <a:p>
            <a:pPr indent="0" marL="0">
              <a:buNone/>
            </a:pPr>
            <a:r>
              <a:rPr lang="en-US" sz="1400" dirty="0">
                <a:solidFill>
                  <a:schemeClr val="tx1"/>
                </a:solidFill>
              </a:rPr>
              <a:t>Our 247-row test set: 19 to 26 mistakes per model, no confidence intervals.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Re-test on a realistic test set</a:t>
            </a:r>
            <a:endParaRPr lang="en-US" sz="3200" dirty="0"/>
          </a:p>
        </p:txBody>
      </p:sp>
      <p:sp>
        <p:nvSpPr>
          <p:cNvPr id="3" name="Stat precision under-sampling"/>
          <p:cNvSpPr txBox="1"/>
          <p:nvPr/>
        </p:nvSpPr>
        <p:spPr>
          <a:xfrm>
            <a:off x="457200" y="1188720"/>
            <a:ext cx="3840480" cy="77724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4.3%</a:t>
            </a:r>
            <a:endParaRPr lang="en-US" sz="4800" dirty="0"/>
          </a:p>
        </p:txBody>
      </p:sp>
      <p:sp>
        <p:nvSpPr>
          <p:cNvPr id="4" name="Label precision under-sampling"/>
          <p:cNvSpPr txBox="1"/>
          <p:nvPr/>
        </p:nvSpPr>
        <p:spPr>
          <a:xfrm>
            <a:off x="457200" y="1965960"/>
            <a:ext cx="3840480" cy="640080"/>
          </a:xfrm>
          <a:prstGeom prst="rect">
            <a:avLst/>
          </a:prstGeom>
          <a:noFill/>
          <a:ln/>
        </p:spPr>
        <p:txBody>
          <a:bodyPr wrap="square" lIns="0" tIns="0" rIns="0" bIns="0" rtlCol="0" anchor="t"/>
          <a:lstStyle/>
          <a:p>
            <a:pPr indent="0" marL="0">
              <a:buNone/>
            </a:pPr>
            <a:r>
              <a:rPr lang="en-US" sz="1400" dirty="0">
                <a:solidFill>
                  <a:schemeClr val="tx1"/>
                </a:solidFill>
              </a:rPr>
              <a:t>Random Forest precision with the paper's under-sampling: 2,004 false alarms</a:t>
            </a:r>
            <a:endParaRPr lang="en-US" sz="1400" dirty="0"/>
          </a:p>
        </p:txBody>
      </p:sp>
      <p:sp>
        <p:nvSpPr>
          <p:cNvPr id="5" name="Stat precision SMOTE"/>
          <p:cNvSpPr txBox="1"/>
          <p:nvPr/>
        </p:nvSpPr>
        <p:spPr>
          <a:xfrm>
            <a:off x="457200" y="2743200"/>
            <a:ext cx="3840480" cy="777240"/>
          </a:xfrm>
          <a:prstGeom prst="rect">
            <a:avLst/>
          </a:prstGeom>
          <a:noFill/>
          <a:ln/>
        </p:spPr>
        <p:txBody>
          <a:bodyPr wrap="square" lIns="0" tIns="0" rIns="0" bIns="0" rtlCol="0" anchor="t"/>
          <a:lstStyle/>
          <a:p>
            <a:pPr indent="0" marL="0">
              <a:buNone/>
            </a:pPr>
            <a:r>
              <a:rPr lang="en-US" sz="4800" b="1" dirty="0">
                <a:solidFill>
                  <a:schemeClr val="accent4"/>
                </a:solidFill>
                <a:latin typeface="Cambria" pitchFamily="34" charset="0"/>
                <a:ea typeface="Cambria" pitchFamily="34" charset="-122"/>
                <a:cs typeface="Cambria" pitchFamily="34" charset="-120"/>
              </a:rPr>
              <a:t>88.3%</a:t>
            </a:r>
            <a:endParaRPr lang="en-US" sz="4800" dirty="0"/>
          </a:p>
        </p:txBody>
      </p:sp>
      <p:sp>
        <p:nvSpPr>
          <p:cNvPr id="6" name="Label precision SMOTE"/>
          <p:cNvSpPr txBox="1"/>
          <p:nvPr/>
        </p:nvSpPr>
        <p:spPr>
          <a:xfrm>
            <a:off x="457200" y="3520440"/>
            <a:ext cx="3840480" cy="640080"/>
          </a:xfrm>
          <a:prstGeom prst="rect">
            <a:avLst/>
          </a:prstGeom>
          <a:noFill/>
          <a:ln/>
        </p:spPr>
        <p:txBody>
          <a:bodyPr wrap="square" lIns="0" tIns="0" rIns="0" bIns="0" rtlCol="0" anchor="t"/>
          <a:lstStyle/>
          <a:p>
            <a:pPr indent="0" marL="0">
              <a:buNone/>
            </a:pPr>
            <a:r>
              <a:rPr lang="en-US" sz="1400" dirty="0">
                <a:solidFill>
                  <a:schemeClr val="tx1"/>
                </a:solidFill>
              </a:rPr>
              <a:t>Random Forest + SMOTE on the same test set: 11 false alarms</a:t>
            </a:r>
            <a:endParaRPr lang="en-US" sz="1400" dirty="0"/>
          </a:p>
        </p:txBody>
      </p:sp>
      <p:sp>
        <p:nvSpPr>
          <p:cNvPr id="7" name="Test set note"/>
          <p:cNvSpPr txBox="1"/>
          <p:nvPr/>
        </p:nvSpPr>
        <p:spPr>
          <a:xfrm>
            <a:off x="457200" y="4297680"/>
            <a:ext cx="3840480" cy="274320"/>
          </a:xfrm>
          <a:prstGeom prst="rect">
            <a:avLst/>
          </a:prstGeom>
          <a:noFill/>
          <a:ln/>
        </p:spPr>
        <p:txBody>
          <a:bodyPr wrap="square" lIns="0" tIns="0" rIns="0" bIns="0" rtlCol="0" anchor="t"/>
          <a:lstStyle/>
          <a:p>
            <a:pPr indent="0" marL="0">
              <a:buNone/>
            </a:pPr>
            <a:r>
              <a:rPr lang="en-US" sz="1200" dirty="0">
                <a:solidFill>
                  <a:schemeClr val="accent5"/>
                </a:solidFill>
              </a:rPr>
              <a:t>Test set: 56,962 transactions, 98 fraud</a:t>
            </a:r>
            <a:endParaRPr lang="en-US" sz="1200" dirty="0"/>
          </a:p>
        </p:txBody>
      </p:sp>
      <p:pic>
        <p:nvPicPr>
          <p:cNvPr id="8" name="PR-AUC chart" descr="Bar chart of PR-AUC by model and balancing strategy">    </p:cNvPr>
          <p:cNvPicPr>
            <a:picLocks noChangeAspect="1"/>
          </p:cNvPicPr>
          <p:nvPr/>
        </p:nvPicPr>
        <p:blipFill>
          <a:blip r:embed="rId1"/>
          <a:stretch>
            <a:fillRect/>
          </a:stretch>
        </p:blipFill>
        <p:spPr>
          <a:xfrm>
            <a:off x="4434840" y="1188720"/>
            <a:ext cx="4251960" cy="2125980"/>
          </a:xfrm>
          <a:prstGeom prst="rect">
            <a:avLst/>
          </a:prstGeom>
        </p:spPr>
      </p:pic>
      <p:sp>
        <p:nvSpPr>
          <p:cNvPr id="9" name="PR-AUC text"/>
          <p:cNvSpPr txBox="1"/>
          <p:nvPr/>
        </p:nvSpPr>
        <p:spPr>
          <a:xfrm>
            <a:off x="4434840" y="3429000"/>
            <a:ext cx="4251960" cy="1097280"/>
          </a:xfrm>
          <a:prstGeom prst="rect">
            <a:avLst/>
          </a:prstGeom>
          <a:noFill/>
          <a:ln/>
        </p:spPr>
        <p:txBody>
          <a:bodyPr wrap="square" lIns="0" tIns="0" rIns="0" bIns="0" rtlCol="0" anchor="t"/>
          <a:lstStyle/>
          <a:p>
            <a:pPr indent="0" marL="0">
              <a:buNone/>
            </a:pPr>
            <a:r>
              <a:rPr lang="en-US" sz="1400" b="1" dirty="0">
                <a:solidFill>
                  <a:schemeClr val="tx1"/>
                </a:solidFill>
              </a:rPr>
              <a:t>PR-AUC (95% CI): </a:t>
            </a:r>
            <a:pPr indent="0" marL="0">
              <a:buNone/>
            </a:pPr>
            <a:r>
              <a:rPr lang="en-US" sz="1400" dirty="0">
                <a:solidFill>
                  <a:schemeClr val="tx1"/>
                </a:solidFill>
              </a:rPr>
              <a:t>RF + SMOTE 0.880 (0.815 to 0.933), RF alone 0.873, XGBoost 0.872. Intervals overlap, so there is no clear winner.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chemeClr val="bg1"/>
                </a:solidFill>
              </a:rPr>
              <a:t>Conclusions</a:t>
            </a:r>
            <a:endParaRPr lang="en-US" sz="3200" dirty="0"/>
          </a:p>
        </p:txBody>
      </p:sp>
      <p:sp>
        <p:nvSpPr>
          <p:cNvPr id="3" name="Conclusion bullets"/>
          <p:cNvSpPr txBox="1"/>
          <p:nvPr/>
        </p:nvSpPr>
        <p:spPr>
          <a:xfrm>
            <a:off x="548640" y="1280160"/>
            <a:ext cx="4206240" cy="25603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The paper's near-perfect precision does not hold at the real fraud rate</a:t>
            </a:r>
            <a:endParaRPr lang="en-US" sz="1600" dirty="0"/>
          </a:p>
          <a:p>
            <a:pPr marL="342900" indent="-342900">
              <a:spcAft>
                <a:spcPts val="1000"/>
              </a:spcAft>
              <a:buSzPct val="100000"/>
              <a:buChar char="•"/>
            </a:pPr>
            <a:r>
              <a:rPr lang="en-US" sz="1600" dirty="0">
                <a:solidFill>
                  <a:schemeClr val="bg1"/>
                </a:solidFill>
              </a:rPr>
              <a:t>Balancing helps a lot, but SMOTE vs class weights vs nothing is not clearly different</a:t>
            </a:r>
            <a:endParaRPr lang="en-US" sz="1600" dirty="0"/>
          </a:p>
          <a:p>
            <a:pPr marL="342900" indent="-342900">
              <a:buSzPct val="100000"/>
              <a:buChar char="•"/>
            </a:pPr>
            <a:r>
              <a:rPr lang="en-US" sz="1600" dirty="0">
                <a:solidFill>
                  <a:schemeClr val="bg1"/>
                </a:solidFill>
              </a:rPr>
              <a:t>LIME: the missed fraud has the same drivers as a caught one, only a lower score</a:t>
            </a:r>
            <a:endParaRPr lang="en-US" sz="1600" dirty="0"/>
          </a:p>
        </p:txBody>
      </p:sp>
      <p:sp>
        <p:nvSpPr>
          <p:cNvPr id="4" name="LIME card"/>
          <p:cNvSpPr/>
          <p:nvPr/>
        </p:nvSpPr>
        <p:spPr>
          <a:xfrm>
            <a:off x="5029200" y="1280160"/>
            <a:ext cx="3657600" cy="1920240"/>
          </a:xfrm>
          <a:prstGeom prst="roundRect">
            <a:avLst>
              <a:gd name="adj" fmla="val 4762"/>
            </a:avLst>
          </a:prstGeom>
          <a:solidFill>
            <a:schemeClr val="bg1"/>
          </a:solidFill>
          <a:ln w="12700">
            <a:solidFill>
              <a:schemeClr val="bg1"/>
            </a:solidFill>
            <a:prstDash val="solid"/>
          </a:ln>
        </p:spPr>
      </p:sp>
      <p:pic>
        <p:nvPicPr>
          <p:cNvPr id="5" name="LIME missed fraud" descr="LIME explanation for a missed fraud, fraud probability 0.33">    </p:cNvPr>
          <p:cNvPicPr>
            <a:picLocks noChangeAspect="1"/>
          </p:cNvPicPr>
          <p:nvPr/>
        </p:nvPicPr>
        <p:blipFill>
          <a:blip r:embed="rId1"/>
          <a:stretch>
            <a:fillRect/>
          </a:stretch>
        </p:blipFill>
        <p:spPr>
          <a:xfrm>
            <a:off x="5120640" y="1371600"/>
            <a:ext cx="3474720" cy="1645920"/>
          </a:xfrm>
          <a:prstGeom prst="rect">
            <a:avLst/>
          </a:prstGeom>
        </p:spPr>
      </p:pic>
      <p:sp>
        <p:nvSpPr>
          <p:cNvPr id="6" name="LIME caption"/>
          <p:cNvSpPr txBox="1"/>
          <p:nvPr/>
        </p:nvSpPr>
        <p:spPr>
          <a:xfrm>
            <a:off x="5029200" y="3291840"/>
            <a:ext cx="3657600" cy="640080"/>
          </a:xfrm>
          <a:prstGeom prst="rect">
            <a:avLst/>
          </a:prstGeom>
          <a:noFill/>
          <a:ln/>
        </p:spPr>
        <p:txBody>
          <a:bodyPr wrap="square" lIns="0" tIns="0" rIns="0" bIns="0" rtlCol="0" anchor="t"/>
          <a:lstStyle/>
          <a:p>
            <a:pPr indent="0" marL="0">
              <a:buNone/>
            </a:pPr>
            <a:r>
              <a:rPr lang="en-US" sz="1300" dirty="0">
                <a:solidFill>
                  <a:schemeClr val="accent6"/>
                </a:solidFill>
              </a:rPr>
              <a:t>LIME on a missed fraud (probability 0.33); a caught fraud scored 0.99 with the same top features</a:t>
            </a:r>
            <a:endParaRPr lang="en-US" sz="1300" dirty="0"/>
          </a:p>
        </p:txBody>
      </p:sp>
      <p:sp>
        <p:nvSpPr>
          <p:cNvPr id="7" name="Limits"/>
          <p:cNvSpPr txBox="1"/>
          <p:nvPr/>
        </p:nvSpPr>
        <p:spPr>
          <a:xfrm>
            <a:off x="548640" y="4114800"/>
            <a:ext cx="8138160" cy="548640"/>
          </a:xfrm>
          <a:prstGeom prst="rect">
            <a:avLst/>
          </a:prstGeom>
          <a:noFill/>
          <a:ln/>
        </p:spPr>
        <p:txBody>
          <a:bodyPr wrap="square" lIns="0" tIns="0" rIns="0" bIns="0" rtlCol="0" anchor="t"/>
          <a:lstStyle/>
          <a:p>
            <a:pPr indent="0" marL="0">
              <a:buNone/>
            </a:pPr>
            <a:r>
              <a:rPr lang="en-US" sz="1300" dirty="0">
                <a:solidFill>
                  <a:schemeClr val="accent6"/>
                </a:solidFill>
              </a:rPr>
              <a:t>Limits: one dataset (2 days), anonymised PCA features, one random split.  Next: time-ordered split, cost-based threshold.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Fraud Study">
  <a:themeElements>
    <a:clrScheme name="Fraud Study">
      <a:dk1>
        <a:srgbClr val="14213D"/>
      </a:dk1>
      <a:lt1>
        <a:srgbClr val="FFFFFF"/>
      </a:lt1>
      <a:dk2>
        <a:srgbClr val="1F7A8C"/>
      </a:dk2>
      <a:lt2>
        <a:srgbClr val="EEF1F5"/>
      </a:lt2>
      <a:accent1>
        <a:srgbClr val="FCA311"/>
      </a:accent1>
      <a:accent2>
        <a:srgbClr val="1F7A8C"/>
      </a:accent2>
      <a:accent3>
        <a:srgbClr val="C0392B"/>
      </a:accent3>
      <a:accent4>
        <a:srgbClr val="2E7D4F"/>
      </a:accent4>
      <a:accent5>
        <a:srgbClr val="5B6B85"/>
      </a:accent5>
      <a:accent6>
        <a:srgbClr val="A9B8CF"/>
      </a:accent6>
      <a:hlink>
        <a:srgbClr val="1F7A8C"/>
      </a:hlink>
      <a:folHlink>
        <a:srgbClr val="5B6B85"/>
      </a:folHlink>
    </a:clrScheme>
    <a:fontScheme name="Fraud Stud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Re-testing a Published Pipeline</dc:title>
  <dc:subject>PptxGenJS Presentation</dc:subject>
  <dc:creator>Gaurav Jain, Palash Matani</dc:creator>
  <cp:lastModifiedBy>Gaurav Jain, Palash Matani</cp:lastModifiedBy>
  <cp:revision>1</cp:revision>
  <dcterms:created xsi:type="dcterms:W3CDTF">2026-10-19T04:30:18Z</dcterms:created>
  <dcterms:modified xsi:type="dcterms:W3CDTF">2026-10-19T04:30:18Z</dcterms:modified>
</cp:coreProperties>
</file>